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al Bold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HK Modular" panose="020B0604020202020204" charset="0"/>
      <p:regular r:id="rId17"/>
    </p:embeddedFont>
    <p:embeddedFont>
      <p:font typeface="Open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65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.gif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7.gif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1387" y="22242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5"/>
                </a:lnTo>
                <a:lnTo>
                  <a:pt x="0" y="5382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3000"/>
          </a:blip>
          <a:srcRect/>
          <a:stretch>
            <a:fillRect/>
          </a:stretch>
        </p:blipFill>
        <p:spPr>
          <a:xfrm>
            <a:off x="2177482" y="309614"/>
            <a:ext cx="7982712" cy="8229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151279" y="2563169"/>
            <a:ext cx="12998344" cy="4457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6"/>
              </a:lnSpc>
              <a:spcBef>
                <a:spcPct val="0"/>
              </a:spcBef>
            </a:pPr>
            <a:r>
              <a:rPr lang="en-US" sz="4968" b="1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ĐỀ TÀI C9: </a:t>
            </a:r>
          </a:p>
          <a:p>
            <a:pPr marL="0" lvl="0" indent="0" algn="ctr">
              <a:lnSpc>
                <a:spcPts val="6956"/>
              </a:lnSpc>
              <a:spcBef>
                <a:spcPct val="0"/>
              </a:spcBef>
            </a:pPr>
            <a:r>
              <a:rPr lang="en-US" sz="4968" b="1" strike="noStrike">
                <a:solidFill>
                  <a:srgbClr val="E8E8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NÉN CẢM NHẬN TÍN HIỆU PPG </a:t>
            </a:r>
          </a:p>
          <a:p>
            <a:pPr marL="0" lvl="0" indent="0" algn="ctr">
              <a:lnSpc>
                <a:spcPts val="7283"/>
              </a:lnSpc>
              <a:spcBef>
                <a:spcPct val="0"/>
              </a:spcBef>
            </a:pPr>
            <a:r>
              <a:rPr lang="en-US" sz="5202" b="1" strike="noStrike">
                <a:solidFill>
                  <a:srgbClr val="E8E8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 SÁNH OMP–DCT VÀ BỘ GIẢI MÃ CNN 1D TRÊN TẬP DỮ LIỆU PPG-DaLiA</a:t>
            </a:r>
          </a:p>
          <a:p>
            <a:pPr marL="0" lvl="0" indent="0" algn="l">
              <a:lnSpc>
                <a:spcPts val="6956"/>
              </a:lnSpc>
              <a:spcBef>
                <a:spcPct val="0"/>
              </a:spcBef>
            </a:pPr>
            <a:endParaRPr lang="en-US" sz="5202" b="1" strike="noStrike">
              <a:solidFill>
                <a:srgbClr val="E8E803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393737" y="8791346"/>
            <a:ext cx="8750263" cy="933908"/>
            <a:chOff x="0" y="0"/>
            <a:chExt cx="2304596" cy="245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4596" cy="245968"/>
            </a:xfrm>
            <a:custGeom>
              <a:avLst/>
              <a:gdLst/>
              <a:ahLst/>
              <a:cxnLst/>
              <a:rect l="l" t="t" r="r" b="b"/>
              <a:pathLst>
                <a:path w="2304596" h="245968">
                  <a:moveTo>
                    <a:pt x="88476" y="0"/>
                  </a:moveTo>
                  <a:lnTo>
                    <a:pt x="2216120" y="0"/>
                  </a:lnTo>
                  <a:cubicBezTo>
                    <a:pt x="2239585" y="0"/>
                    <a:pt x="2262089" y="9322"/>
                    <a:pt x="2278682" y="25914"/>
                  </a:cubicBezTo>
                  <a:cubicBezTo>
                    <a:pt x="2295274" y="42507"/>
                    <a:pt x="2304596" y="65011"/>
                    <a:pt x="2304596" y="88476"/>
                  </a:cubicBezTo>
                  <a:lnTo>
                    <a:pt x="2304596" y="157491"/>
                  </a:lnTo>
                  <a:cubicBezTo>
                    <a:pt x="2304596" y="180957"/>
                    <a:pt x="2295274" y="203461"/>
                    <a:pt x="2278682" y="220053"/>
                  </a:cubicBezTo>
                  <a:cubicBezTo>
                    <a:pt x="2262089" y="236646"/>
                    <a:pt x="2239585" y="245968"/>
                    <a:pt x="2216120" y="245968"/>
                  </a:cubicBezTo>
                  <a:lnTo>
                    <a:pt x="88476" y="245968"/>
                  </a:lnTo>
                  <a:cubicBezTo>
                    <a:pt x="65011" y="245968"/>
                    <a:pt x="42507" y="236646"/>
                    <a:pt x="25914" y="220053"/>
                  </a:cubicBezTo>
                  <a:cubicBezTo>
                    <a:pt x="9322" y="203461"/>
                    <a:pt x="0" y="180957"/>
                    <a:pt x="0" y="157491"/>
                  </a:cubicBezTo>
                  <a:lnTo>
                    <a:pt x="0" y="88476"/>
                  </a:lnTo>
                  <a:cubicBezTo>
                    <a:pt x="0" y="65011"/>
                    <a:pt x="9322" y="42507"/>
                    <a:pt x="25914" y="25914"/>
                  </a:cubicBezTo>
                  <a:cubicBezTo>
                    <a:pt x="42507" y="9322"/>
                    <a:pt x="65011" y="0"/>
                    <a:pt x="88476" y="0"/>
                  </a:cubicBezTo>
                  <a:close/>
                </a:path>
              </a:pathLst>
            </a:custGeom>
            <a:solidFill>
              <a:srgbClr val="E8E80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4596" cy="284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690229" y="2141003"/>
            <a:ext cx="7081711" cy="7117297"/>
          </a:xfrm>
          <a:custGeom>
            <a:avLst/>
            <a:gdLst/>
            <a:ahLst/>
            <a:cxnLst/>
            <a:rect l="l" t="t" r="r" b="b"/>
            <a:pathLst>
              <a:path w="7081711" h="7117297">
                <a:moveTo>
                  <a:pt x="0" y="0"/>
                </a:moveTo>
                <a:lnTo>
                  <a:pt x="7081711" y="0"/>
                </a:lnTo>
                <a:lnTo>
                  <a:pt x="7081711" y="7117297"/>
                </a:lnTo>
                <a:lnTo>
                  <a:pt x="0" y="711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-325010" y="7711576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0" y="0"/>
                </a:moveTo>
                <a:lnTo>
                  <a:pt x="5795493" y="0"/>
                </a:lnTo>
                <a:lnTo>
                  <a:pt x="57954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10722350" y="8472196"/>
            <a:ext cx="967879" cy="937963"/>
          </a:xfrm>
          <a:custGeom>
            <a:avLst/>
            <a:gdLst/>
            <a:ahLst/>
            <a:cxnLst/>
            <a:rect l="l" t="t" r="r" b="b"/>
            <a:pathLst>
              <a:path w="967879" h="937963">
                <a:moveTo>
                  <a:pt x="0" y="0"/>
                </a:moveTo>
                <a:lnTo>
                  <a:pt x="967879" y="0"/>
                </a:lnTo>
                <a:lnTo>
                  <a:pt x="967879" y="937963"/>
                </a:lnTo>
                <a:lnTo>
                  <a:pt x="0" y="937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>
          <a:xfrm>
            <a:off x="14536914" y="6600637"/>
            <a:ext cx="833541" cy="1069711"/>
          </a:xfrm>
          <a:custGeom>
            <a:avLst/>
            <a:gdLst/>
            <a:ahLst/>
            <a:cxnLst/>
            <a:rect l="l" t="t" r="r" b="b"/>
            <a:pathLst>
              <a:path w="833541" h="1069711">
                <a:moveTo>
                  <a:pt x="0" y="0"/>
                </a:moveTo>
                <a:lnTo>
                  <a:pt x="833541" y="0"/>
                </a:lnTo>
                <a:lnTo>
                  <a:pt x="833541" y="1069712"/>
                </a:lnTo>
                <a:lnTo>
                  <a:pt x="0" y="1069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-437069" y="8049185"/>
            <a:ext cx="1465769" cy="223781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34986" y="8943975"/>
            <a:ext cx="8467766" cy="504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5"/>
              </a:lnSpc>
            </a:pPr>
            <a:r>
              <a:rPr lang="en-US" sz="2550" b="1" spc="52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PHÙNG LÊ THANH QUÂN - 23110145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10051" y="-215883"/>
            <a:ext cx="11785402" cy="996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  <a:spcBef>
                <a:spcPct val="0"/>
              </a:spcBef>
            </a:pPr>
            <a:r>
              <a:rPr lang="en-US" sz="4999" b="1" spc="1019">
                <a:solidFill>
                  <a:srgbClr val="7507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TRÍ</a:t>
            </a:r>
            <a:r>
              <a:rPr lang="en-US" sz="4999" b="1" spc="101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999" b="1" spc="1019">
                <a:solidFill>
                  <a:srgbClr val="004D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TUỆ </a:t>
            </a:r>
            <a:r>
              <a:rPr lang="en-US" sz="4999" b="1" spc="1019">
                <a:solidFill>
                  <a:srgbClr val="00802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NHÂN </a:t>
            </a:r>
            <a:r>
              <a:rPr lang="en-US" sz="4999" b="1" spc="1019">
                <a:solidFill>
                  <a:srgbClr val="FFED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TẠO </a:t>
            </a:r>
            <a:r>
              <a:rPr lang="en-US" sz="4999" b="1" spc="1019">
                <a:solidFill>
                  <a:srgbClr val="FF8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 </a:t>
            </a:r>
            <a:r>
              <a:rPr lang="en-US" sz="4999" b="1" spc="1019">
                <a:solidFill>
                  <a:srgbClr val="E4030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489569" flipH="1">
            <a:off x="13512840" y="2968273"/>
            <a:ext cx="3715231" cy="1783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5694" y="866775"/>
            <a:ext cx="8474563" cy="279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LIST OF 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25694" y="7157224"/>
            <a:ext cx="8474563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0"/>
              </a:lnSpc>
              <a:spcBef>
                <a:spcPct val="0"/>
              </a:spcBef>
            </a:pPr>
            <a:r>
              <a:rPr lang="en-US" sz="2600" spc="530" dirty="0">
                <a:solidFill>
                  <a:srgbClr val="FFFFFF"/>
                </a:solidFill>
                <a:latin typeface="+mj-lt"/>
                <a:ea typeface="Poppins Light"/>
                <a:cs typeface="Poppins Light"/>
                <a:sym typeface="Poppins Light"/>
              </a:rPr>
              <a:t>THIẾT KẾ THỰC NGHIỆM VÀ ĐÁNH GIÁ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131209" y="4387774"/>
            <a:ext cx="3812678" cy="3392964"/>
            <a:chOff x="0" y="0"/>
            <a:chExt cx="5083571" cy="4523952"/>
          </a:xfrm>
        </p:grpSpPr>
        <p:sp>
          <p:nvSpPr>
            <p:cNvPr id="5" name="TextBox 5"/>
            <p:cNvSpPr txBox="1"/>
            <p:nvPr/>
          </p:nvSpPr>
          <p:spPr>
            <a:xfrm>
              <a:off x="3381693" y="-57150"/>
              <a:ext cx="1701878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none" strike="noStrike">
                  <a:solidFill>
                    <a:srgbClr val="E8E803"/>
                  </a:solidFill>
                  <a:latin typeface="HK Modular"/>
                  <a:ea typeface="HK Modular"/>
                  <a:cs typeface="HK Modular"/>
                  <a:sym typeface="HK Modular"/>
                </a:rPr>
                <a:t>03</a:t>
              </a:r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541725"/>
              <a:ext cx="3808870" cy="0"/>
            </a:xfrm>
            <a:prstGeom prst="line">
              <a:avLst/>
            </a:prstGeom>
            <a:ln w="12700" cap="rnd">
              <a:solidFill>
                <a:srgbClr val="F4F3E7"/>
              </a:solidFill>
              <a:prstDash val="lg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81693" y="1237217"/>
              <a:ext cx="1701878" cy="69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none" strike="noStrike">
                  <a:solidFill>
                    <a:srgbClr val="E8E803"/>
                  </a:solidFill>
                  <a:latin typeface="HK Modular"/>
                  <a:ea typeface="HK Modular"/>
                  <a:cs typeface="HK Modular"/>
                  <a:sym typeface="HK Modular"/>
                </a:rPr>
                <a:t>05</a:t>
              </a:r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1836091"/>
              <a:ext cx="3808870" cy="0"/>
            </a:xfrm>
            <a:prstGeom prst="line">
              <a:avLst/>
            </a:prstGeom>
            <a:ln w="12700" cap="rnd">
              <a:solidFill>
                <a:srgbClr val="F4F3E7"/>
              </a:solidFill>
              <a:prstDash val="lg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1693" y="2531583"/>
              <a:ext cx="1701878" cy="69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none" strike="noStrike">
                  <a:solidFill>
                    <a:srgbClr val="E8E803"/>
                  </a:solidFill>
                  <a:latin typeface="HK Modular"/>
                  <a:ea typeface="HK Modular"/>
                  <a:cs typeface="HK Modular"/>
                  <a:sym typeface="HK Modular"/>
                </a:rPr>
                <a:t>06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0" y="3130458"/>
              <a:ext cx="3808870" cy="0"/>
            </a:xfrm>
            <a:prstGeom prst="line">
              <a:avLst/>
            </a:prstGeom>
            <a:ln w="12700" cap="rnd">
              <a:solidFill>
                <a:srgbClr val="F4F3E7"/>
              </a:solidFill>
              <a:prstDash val="lgDash"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1693" y="3825950"/>
              <a:ext cx="1701878" cy="69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480"/>
                </a:lnSpc>
                <a:spcBef>
                  <a:spcPct val="0"/>
                </a:spcBef>
              </a:pPr>
              <a:r>
                <a:rPr lang="en-US" sz="3200" b="1" u="none" strike="noStrike">
                  <a:solidFill>
                    <a:srgbClr val="E8E803"/>
                  </a:solidFill>
                  <a:latin typeface="HK Modular"/>
                  <a:ea typeface="HK Modular"/>
                  <a:cs typeface="HK Modular"/>
                  <a:sym typeface="HK Modular"/>
                </a:rPr>
                <a:t>07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14131209" y="7692211"/>
            <a:ext cx="2856652" cy="0"/>
          </a:xfrm>
          <a:prstGeom prst="line">
            <a:avLst/>
          </a:prstGeom>
          <a:ln w="9525" cap="rnd">
            <a:solidFill>
              <a:srgbClr val="F4F3E7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Freeform 13"/>
          <p:cNvSpPr/>
          <p:nvPr/>
        </p:nvSpPr>
        <p:spPr>
          <a:xfrm>
            <a:off x="16143961" y="8403288"/>
            <a:ext cx="5306231" cy="3767424"/>
          </a:xfrm>
          <a:custGeom>
            <a:avLst/>
            <a:gdLst/>
            <a:ahLst/>
            <a:cxnLst/>
            <a:rect l="l" t="t" r="r" b="b"/>
            <a:pathLst>
              <a:path w="5306231" h="3767424">
                <a:moveTo>
                  <a:pt x="0" y="0"/>
                </a:moveTo>
                <a:lnTo>
                  <a:pt x="5306231" y="0"/>
                </a:lnTo>
                <a:lnTo>
                  <a:pt x="5306231" y="3767424"/>
                </a:lnTo>
                <a:lnTo>
                  <a:pt x="0" y="37674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4" name="Freeform 14"/>
          <p:cNvSpPr/>
          <p:nvPr/>
        </p:nvSpPr>
        <p:spPr>
          <a:xfrm>
            <a:off x="14915581" y="-2691407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grpSp>
        <p:nvGrpSpPr>
          <p:cNvPr id="15" name="Group 15"/>
          <p:cNvGrpSpPr/>
          <p:nvPr/>
        </p:nvGrpSpPr>
        <p:grpSpPr>
          <a:xfrm>
            <a:off x="0" y="0"/>
            <a:ext cx="4591400" cy="10287000"/>
            <a:chOff x="0" y="0"/>
            <a:chExt cx="1209258" cy="27093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9258" cy="2709333"/>
            </a:xfrm>
            <a:custGeom>
              <a:avLst/>
              <a:gdLst/>
              <a:ahLst/>
              <a:cxnLst/>
              <a:rect l="l" t="t" r="r" b="b"/>
              <a:pathLst>
                <a:path w="1209258" h="2709333">
                  <a:moveTo>
                    <a:pt x="0" y="0"/>
                  </a:moveTo>
                  <a:lnTo>
                    <a:pt x="1209258" y="0"/>
                  </a:lnTo>
                  <a:lnTo>
                    <a:pt x="12092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03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092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598330" y="1028700"/>
            <a:ext cx="7986141" cy="8229600"/>
          </a:xfrm>
          <a:custGeom>
            <a:avLst/>
            <a:gdLst/>
            <a:ahLst/>
            <a:cxnLst/>
            <a:rect l="l" t="t" r="r" b="b"/>
            <a:pathLst>
              <a:path w="7986141" h="8229600">
                <a:moveTo>
                  <a:pt x="0" y="0"/>
                </a:moveTo>
                <a:lnTo>
                  <a:pt x="7986141" y="0"/>
                </a:lnTo>
                <a:lnTo>
                  <a:pt x="79861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489569" flipH="1">
            <a:off x="2733785" y="1799752"/>
            <a:ext cx="3715231" cy="1783311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925694" y="4244899"/>
            <a:ext cx="5205515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20"/>
              </a:lnSpc>
              <a:spcBef>
                <a:spcPct val="0"/>
              </a:spcBef>
            </a:pPr>
            <a:r>
              <a:rPr lang="en-US" sz="2600" spc="530" dirty="0">
                <a:solidFill>
                  <a:srgbClr val="FFFFFF"/>
                </a:solidFill>
                <a:latin typeface="+mj-lt"/>
                <a:ea typeface="Poppins Light"/>
                <a:cs typeface="Poppins Light"/>
                <a:sym typeface="Poppins Light"/>
              </a:rPr>
              <a:t>TỔNG QUAN ĐỀ TÀI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25694" y="5215674"/>
            <a:ext cx="5531204" cy="530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20"/>
              </a:lnSpc>
              <a:spcBef>
                <a:spcPct val="0"/>
              </a:spcBef>
            </a:pPr>
            <a:r>
              <a:rPr lang="en-US" sz="2600" spc="530" dirty="0">
                <a:solidFill>
                  <a:srgbClr val="FFFFFF"/>
                </a:solidFill>
                <a:latin typeface="+mj-lt"/>
                <a:ea typeface="Poppins Light"/>
                <a:cs typeface="Poppins Light"/>
                <a:sym typeface="Poppins Light"/>
              </a:rPr>
              <a:t>DATASET VÀ TIỀN XỬ LÝ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25694" y="6186449"/>
            <a:ext cx="5476106" cy="530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20"/>
              </a:lnSpc>
              <a:spcBef>
                <a:spcPct val="0"/>
              </a:spcBef>
            </a:pPr>
            <a:r>
              <a:rPr lang="en-US" sz="2600" spc="530" dirty="0">
                <a:solidFill>
                  <a:srgbClr val="FFFFFF"/>
                </a:solidFill>
                <a:latin typeface="+mj-lt"/>
                <a:ea typeface="Poppins Light"/>
                <a:cs typeface="Poppins Light"/>
                <a:sym typeface="Poppins Light"/>
              </a:rPr>
              <a:t>PHƯƠNG PHÁP ĐỀ XUẤT</a:t>
            </a:r>
          </a:p>
        </p:txBody>
      </p:sp>
      <p:sp>
        <p:nvSpPr>
          <p:cNvPr id="23" name="Freeform 23"/>
          <p:cNvSpPr/>
          <p:nvPr/>
        </p:nvSpPr>
        <p:spPr>
          <a:xfrm>
            <a:off x="3831102" y="4290241"/>
            <a:ext cx="833541" cy="1069711"/>
          </a:xfrm>
          <a:custGeom>
            <a:avLst/>
            <a:gdLst/>
            <a:ahLst/>
            <a:cxnLst/>
            <a:rect l="l" t="t" r="r" b="b"/>
            <a:pathLst>
              <a:path w="833541" h="1069711">
                <a:moveTo>
                  <a:pt x="0" y="0"/>
                </a:moveTo>
                <a:lnTo>
                  <a:pt x="833542" y="0"/>
                </a:lnTo>
                <a:lnTo>
                  <a:pt x="833542" y="1069711"/>
                </a:lnTo>
                <a:lnTo>
                  <a:pt x="0" y="1069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0367" y="8495222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0" y="0"/>
                </a:moveTo>
                <a:lnTo>
                  <a:pt x="5795493" y="0"/>
                </a:lnTo>
                <a:lnTo>
                  <a:pt x="57954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 rot="-9763104" flipH="1">
            <a:off x="13790314" y="-991698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-1999606" y="-3138087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2" y="0"/>
                </a:lnTo>
                <a:lnTo>
                  <a:pt x="6056612" y="5382815"/>
                </a:lnTo>
                <a:lnTo>
                  <a:pt x="0" y="5382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1294453" y="3766853"/>
            <a:ext cx="15773420" cy="5274237"/>
          </a:xfrm>
          <a:custGeom>
            <a:avLst/>
            <a:gdLst/>
            <a:ahLst/>
            <a:cxnLst/>
            <a:rect l="l" t="t" r="r" b="b"/>
            <a:pathLst>
              <a:path w="15773420" h="5274237">
                <a:moveTo>
                  <a:pt x="0" y="0"/>
                </a:moveTo>
                <a:lnTo>
                  <a:pt x="15773420" y="0"/>
                </a:lnTo>
                <a:lnTo>
                  <a:pt x="15773420" y="5274237"/>
                </a:lnTo>
                <a:lnTo>
                  <a:pt x="0" y="5274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94453" y="7383063"/>
            <a:ext cx="1082357" cy="1655660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 flipH="1">
            <a:off x="0" y="6874538"/>
            <a:ext cx="3181798" cy="2672710"/>
          </a:xfrm>
          <a:custGeom>
            <a:avLst/>
            <a:gdLst/>
            <a:ahLst/>
            <a:cxnLst/>
            <a:rect l="l" t="t" r="r" b="b"/>
            <a:pathLst>
              <a:path w="3181798" h="2672710">
                <a:moveTo>
                  <a:pt x="3181798" y="0"/>
                </a:moveTo>
                <a:lnTo>
                  <a:pt x="0" y="0"/>
                </a:lnTo>
                <a:lnTo>
                  <a:pt x="0" y="2672710"/>
                </a:lnTo>
                <a:lnTo>
                  <a:pt x="3181798" y="2672710"/>
                </a:lnTo>
                <a:lnTo>
                  <a:pt x="31817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TextBox 8"/>
          <p:cNvSpPr txBox="1"/>
          <p:nvPr/>
        </p:nvSpPr>
        <p:spPr>
          <a:xfrm>
            <a:off x="376770" y="361950"/>
            <a:ext cx="9986429" cy="870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01098" lvl="1" indent="-550549" algn="l">
              <a:lnSpc>
                <a:spcPts val="7140"/>
              </a:lnSpc>
              <a:spcBef>
                <a:spcPct val="0"/>
              </a:spcBef>
              <a:buAutoNum type="arabicPeriod"/>
            </a:pP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TỔNG QUAN ĐỀ TÀI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728002"/>
            <a:ext cx="18288000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 spc="367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THÁCH THỨC (THIẾT BỊ ĐEO Y TẾ):</a:t>
            </a:r>
            <a:r>
              <a:rPr lang="en-US" sz="1800" spc="3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TÍN HIỆU PPG THU NHẬN LIÊN TỤC DÀI HẠN TẠO GÁNH NẶNG LỚN VỀ LƯU LƯỢNG, TIÊU HAO PIN KHI TRUYỀN KHÔNG DÂY.</a:t>
            </a:r>
          </a:p>
          <a:p>
            <a:pPr marL="388622" lvl="1" indent="-194311" algn="l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b="1" spc="367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GIẢI PHÁP (COMPRESSED SENSING):</a:t>
            </a:r>
            <a:r>
              <a:rPr lang="en-US" sz="1800" spc="3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TẬN DỤNG TÍNH XẤP XỈ THƯA ĐỂ NÉN BẰNG PHÉP CHIẾU NGẪU NHIÊN, CHUYỂN TOÀN BỘ ĐỘ PHỨC TẠP TÍNH TOÁN VỀ MÁY THU.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1548697" y="5553243"/>
            <a:ext cx="15972678" cy="3613818"/>
          </a:xfrm>
          <a:custGeom>
            <a:avLst/>
            <a:gdLst/>
            <a:ahLst/>
            <a:cxnLst/>
            <a:rect l="l" t="t" r="r" b="b"/>
            <a:pathLst>
              <a:path w="15972678" h="3613818">
                <a:moveTo>
                  <a:pt x="0" y="0"/>
                </a:moveTo>
                <a:lnTo>
                  <a:pt x="15972678" y="0"/>
                </a:lnTo>
                <a:lnTo>
                  <a:pt x="15972678" y="3613819"/>
                </a:lnTo>
                <a:lnTo>
                  <a:pt x="0" y="3613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647379" y="158115"/>
            <a:ext cx="13252812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Dataset </a:t>
            </a:r>
            <a:r>
              <a:rPr lang="en-US" sz="5100" dirty="0" err="1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va</a:t>
            </a: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̀ </a:t>
            </a: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tiền</a:t>
            </a: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  <a:r>
              <a:rPr lang="en-US" sz="5100" dirty="0" err="1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xư</a:t>
            </a: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̉ </a:t>
            </a:r>
            <a:r>
              <a:rPr lang="en-US" sz="5100" dirty="0" err="1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ly</a:t>
            </a:r>
            <a:r>
              <a:rPr lang="en-US" sz="5100" dirty="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0673" y="2079760"/>
            <a:ext cx="16266795" cy="254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 err="1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Tên</a:t>
            </a:r>
            <a:r>
              <a:rPr lang="en-US" sz="1999" b="1" dirty="0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 tập dữ liệu: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PPG-</a:t>
            </a:r>
            <a:r>
              <a:rPr lang="en-US" sz="19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DaLiA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Tác giả: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Attila Reiss, Indrajeet </a:t>
            </a:r>
            <a:r>
              <a:rPr lang="en-US" sz="19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Indlekofer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Philip Schmidt, Kristof Van </a:t>
            </a:r>
            <a:r>
              <a:rPr lang="en-US" sz="1999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Laerhoven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(Đại học Siegen, Đức - Ubiquitous Computing Group, 2019).</a:t>
            </a:r>
          </a:p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Bài báo </a:t>
            </a:r>
            <a:r>
              <a:rPr lang="en-US" sz="1999" b="1" dirty="0" err="1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gốc</a:t>
            </a:r>
            <a:r>
              <a:rPr lang="en-US" sz="1999" b="1" dirty="0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Sensors 2019, 19(14), 3079 (DOI: 10.3390/s19143079).</a:t>
            </a:r>
          </a:p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 err="1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Nguồn</a:t>
            </a: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999" b="1" dirty="0" err="1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lưu</a:t>
            </a: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999" b="1" dirty="0" err="1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trữ</a:t>
            </a: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 chính thức: 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UCI Machine Learning Repository (DOI: 10.24432/C53890).</a:t>
            </a:r>
          </a:p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Link </a:t>
            </a:r>
            <a:r>
              <a:rPr lang="en-US" sz="1999" b="1" dirty="0" err="1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tải</a:t>
            </a: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 chính thức: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https://archive.ics.uci.edu/dataset/495/ppg+dalia</a:t>
            </a:r>
          </a:p>
          <a:p>
            <a:pPr marL="431799" lvl="1" indent="-215899" algn="l">
              <a:lnSpc>
                <a:spcPts val="33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b="1" dirty="0">
                <a:solidFill>
                  <a:srgbClr val="FFD400"/>
                </a:solidFill>
                <a:latin typeface="Arial Bold"/>
                <a:ea typeface="Arial Bold"/>
                <a:cs typeface="Arial Bold"/>
                <a:sym typeface="Arial Bold"/>
              </a:rPr>
              <a:t>License:</a:t>
            </a:r>
            <a:r>
              <a:rPr lang="en-US" sz="1999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Creative Commons Attribution 4.0 International (CC BY 4.0)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440090"/>
            <a:ext cx="8631329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2.1 TẬP DỮ LIỆU &amp; PHÂN CHIA 5-FOLD SUBJECT-WISE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287" y="5051323"/>
            <a:ext cx="6503075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1899" b="1" dirty="0">
                <a:solidFill>
                  <a:srgbClr val="C1FF7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Phân chia 5-Fold độc lập theo người (Subject-wise):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5864154" y="7914882"/>
            <a:ext cx="2146893" cy="17736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1402464" y="4260896"/>
            <a:ext cx="15483071" cy="5515844"/>
          </a:xfrm>
          <a:custGeom>
            <a:avLst/>
            <a:gdLst/>
            <a:ahLst/>
            <a:cxnLst/>
            <a:rect l="l" t="t" r="r" b="b"/>
            <a:pathLst>
              <a:path w="15483071" h="5515844">
                <a:moveTo>
                  <a:pt x="0" y="0"/>
                </a:moveTo>
                <a:lnTo>
                  <a:pt x="15483072" y="0"/>
                </a:lnTo>
                <a:lnTo>
                  <a:pt x="15483072" y="5515844"/>
                </a:lnTo>
                <a:lnTo>
                  <a:pt x="0" y="5515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880862" y="1684566"/>
            <a:ext cx="11291814" cy="2196024"/>
          </a:xfrm>
          <a:custGeom>
            <a:avLst/>
            <a:gdLst/>
            <a:ahLst/>
            <a:cxnLst/>
            <a:rect l="l" t="t" r="r" b="b"/>
            <a:pathLst>
              <a:path w="11291814" h="2196024">
                <a:moveTo>
                  <a:pt x="0" y="0"/>
                </a:moveTo>
                <a:lnTo>
                  <a:pt x="11291813" y="0"/>
                </a:lnTo>
                <a:lnTo>
                  <a:pt x="11291813" y="2196024"/>
                </a:lnTo>
                <a:lnTo>
                  <a:pt x="0" y="2196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647379" y="158115"/>
            <a:ext cx="13252812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Dataset và tiền xử lý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440090"/>
            <a:ext cx="239465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2.2 TIỀN XỬ LÝ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6065" y="3655612"/>
            <a:ext cx="863084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 mức nén: M=51 (nén 80%), M=77 (nén 70% – cốt lõi), M=128 (nén 50%)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flipH="1">
            <a:off x="15803179" y="3177032"/>
            <a:ext cx="1082357" cy="1655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4092063" y="1628754"/>
            <a:ext cx="9326904" cy="4451108"/>
          </a:xfrm>
          <a:custGeom>
            <a:avLst/>
            <a:gdLst/>
            <a:ahLst/>
            <a:cxnLst/>
            <a:rect l="l" t="t" r="r" b="b"/>
            <a:pathLst>
              <a:path w="9326904" h="4451108">
                <a:moveTo>
                  <a:pt x="0" y="0"/>
                </a:moveTo>
                <a:lnTo>
                  <a:pt x="9326904" y="0"/>
                </a:lnTo>
                <a:lnTo>
                  <a:pt x="9326904" y="4451108"/>
                </a:lnTo>
                <a:lnTo>
                  <a:pt x="0" y="445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1" t="-22898" r="-3187" b="-242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4092063" y="6782302"/>
            <a:ext cx="9326904" cy="3504698"/>
          </a:xfrm>
          <a:custGeom>
            <a:avLst/>
            <a:gdLst/>
            <a:ahLst/>
            <a:cxnLst/>
            <a:rect l="l" t="t" r="r" b="b"/>
            <a:pathLst>
              <a:path w="9326904" h="3504698">
                <a:moveTo>
                  <a:pt x="0" y="0"/>
                </a:moveTo>
                <a:lnTo>
                  <a:pt x="9326904" y="0"/>
                </a:lnTo>
                <a:lnTo>
                  <a:pt x="9326904" y="3504698"/>
                </a:lnTo>
                <a:lnTo>
                  <a:pt x="0" y="3504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647379" y="158115"/>
            <a:ext cx="13252812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PHƯƠNG PHÁP ĐỀ XUẤT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028700"/>
            <a:ext cx="8648700" cy="422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3.1 BỘ GIẢI MÃ CỔ ĐIỂN OMP–DCT &amp; TỐI ƯU K_MAX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269092"/>
            <a:ext cx="15806916" cy="32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TỐI ƯU K_MAX TRÊN VALIDATION: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Quét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tập </a:t>
            </a:r>
            <a:r>
              <a:rPr 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ứng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viên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{8, 16, 32, 64} trên Validation; chọn: </a:t>
            </a:r>
            <a:r>
              <a:rPr lang="en-US" sz="20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K_max</a:t>
            </a: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8 (M=51), 16 (M=77), 64 (M=128).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1028700" y="2546142"/>
            <a:ext cx="16464270" cy="4392782"/>
          </a:xfrm>
          <a:custGeom>
            <a:avLst/>
            <a:gdLst/>
            <a:ahLst/>
            <a:cxnLst/>
            <a:rect l="l" t="t" r="r" b="b"/>
            <a:pathLst>
              <a:path w="16464270" h="4392782">
                <a:moveTo>
                  <a:pt x="0" y="0"/>
                </a:moveTo>
                <a:lnTo>
                  <a:pt x="16464270" y="0"/>
                </a:lnTo>
                <a:lnTo>
                  <a:pt x="16464270" y="4392782"/>
                </a:lnTo>
                <a:lnTo>
                  <a:pt x="0" y="4392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532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647379" y="158115"/>
            <a:ext cx="13252812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PHƯƠNG PHÁP ĐỀ XUẤT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234232"/>
            <a:ext cx="538335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3.2 BỘ GIẢI MÃ HỌC SÂU CNN 1D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20667"/>
            <a:ext cx="1228177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Tái tạo trực tiếp từ vector đo ỹ sang tín hiệu x̂ qua mạng truyền thẳng trong 1 bước duy nhất (không cần lặp).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186101"/>
            <a:ext cx="11385113" cy="1263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0"/>
              </a:lnSpc>
              <a:spcBef>
                <a:spcPct val="0"/>
              </a:spcBef>
            </a:pPr>
            <a:r>
              <a:rPr lang="en-US" sz="2000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QUY TRÌNH HUẤN LUYỆN:</a:t>
            </a:r>
          </a:p>
          <a:p>
            <a:pPr algn="just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Hàm mất mát MSE; Adam optimizer (lr = 0.001); batch size = 64; Early stopping patience = 10 epoch.</a:t>
            </a:r>
          </a:p>
          <a:p>
            <a:pPr algn="just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Huấn luyện đủ 45 checkpoint (5 folds × 3 mức M × 3 seeds: 11, 22, 33). Số tham số: 40.705 (M=77).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1792853" y="2782654"/>
            <a:ext cx="14702295" cy="6259627"/>
          </a:xfrm>
          <a:custGeom>
            <a:avLst/>
            <a:gdLst/>
            <a:ahLst/>
            <a:cxnLst/>
            <a:rect l="l" t="t" r="r" b="b"/>
            <a:pathLst>
              <a:path w="14702295" h="6259627">
                <a:moveTo>
                  <a:pt x="0" y="0"/>
                </a:moveTo>
                <a:lnTo>
                  <a:pt x="14702294" y="0"/>
                </a:lnTo>
                <a:lnTo>
                  <a:pt x="14702294" y="6259627"/>
                </a:lnTo>
                <a:lnTo>
                  <a:pt x="0" y="625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5" b="-724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647379" y="158115"/>
            <a:ext cx="13252812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 PHƯƠNG PHÁP ĐỀ XUẤT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342047"/>
            <a:ext cx="6720602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E8E803"/>
                </a:solidFill>
                <a:latin typeface="Arial Bold"/>
                <a:ea typeface="Arial Bold"/>
                <a:cs typeface="Arial Bold"/>
                <a:sym typeface="Arial Bold"/>
              </a:rPr>
              <a:t>3.3 MÔ HÌNH MỞ RỘNG RESLINCNN_LITE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113229"/>
            <a:ext cx="14058900" cy="422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đề của CNN thuần: Có xu hướng làm </a:t>
            </a:r>
            <a:r>
              <a:rPr lang="en-US" sz="2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trơn</a:t>
            </a: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đỉnh</a:t>
            </a: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(smoothing) và mất </a:t>
            </a:r>
            <a:r>
              <a:rPr lang="en-US" sz="2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biên</a:t>
            </a: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độ ở tỷ lệ đo cao.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931805" y="2053773"/>
            <a:ext cx="16480907" cy="7812280"/>
          </a:xfrm>
          <a:custGeom>
            <a:avLst/>
            <a:gdLst/>
            <a:ahLst/>
            <a:cxnLst/>
            <a:rect l="l" t="t" r="r" b="b"/>
            <a:pathLst>
              <a:path w="16480907" h="7812280">
                <a:moveTo>
                  <a:pt x="0" y="0"/>
                </a:moveTo>
                <a:lnTo>
                  <a:pt x="16480907" y="0"/>
                </a:lnTo>
                <a:lnTo>
                  <a:pt x="16480907" y="7812280"/>
                </a:lnTo>
                <a:lnTo>
                  <a:pt x="0" y="781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462166" y="158115"/>
            <a:ext cx="1736366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THIẾT KẾ THỰC NGHIỆM VÀ ĐÁNH GIÁ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464" y="1162915"/>
            <a:ext cx="959488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4.1 CÁC CHỈ SỐ ĐÁNH GIÁ CHẤT LƯỢNG TÁI TẠO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775816" y="2664425"/>
            <a:ext cx="16736369" cy="4958149"/>
          </a:xfrm>
          <a:custGeom>
            <a:avLst/>
            <a:gdLst/>
            <a:ahLst/>
            <a:cxnLst/>
            <a:rect l="l" t="t" r="r" b="b"/>
            <a:pathLst>
              <a:path w="16736369" h="4958149">
                <a:moveTo>
                  <a:pt x="0" y="0"/>
                </a:moveTo>
                <a:lnTo>
                  <a:pt x="16736368" y="0"/>
                </a:lnTo>
                <a:lnTo>
                  <a:pt x="16736368" y="4958150"/>
                </a:lnTo>
                <a:lnTo>
                  <a:pt x="0" y="495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462166" y="158115"/>
            <a:ext cx="1736366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THIẾT KẾ THỰC NGHIỆM VÀ ĐÁNH GIÁ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464" y="1162915"/>
            <a:ext cx="959488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4.1 CÁC CHỈ SỐ ĐÁNH GIÁ CHẤT LƯỢNG TÁI TẠO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462166" y="3500419"/>
            <a:ext cx="17336913" cy="5157732"/>
          </a:xfrm>
          <a:custGeom>
            <a:avLst/>
            <a:gdLst/>
            <a:ahLst/>
            <a:cxnLst/>
            <a:rect l="l" t="t" r="r" b="b"/>
            <a:pathLst>
              <a:path w="17336913" h="5157732">
                <a:moveTo>
                  <a:pt x="0" y="0"/>
                </a:moveTo>
                <a:lnTo>
                  <a:pt x="17336913" y="0"/>
                </a:lnTo>
                <a:lnTo>
                  <a:pt x="17336913" y="5157732"/>
                </a:lnTo>
                <a:lnTo>
                  <a:pt x="0" y="515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462166" y="158115"/>
            <a:ext cx="1736366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THIẾT KẾ THỰC NGHIỆM VÀ ĐÁNH GIÁ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464" y="1379485"/>
            <a:ext cx="959488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4.2 ĐƯỜNG CONG ĐÁNH ĐỔI NÉN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63104" flipH="1">
            <a:off x="15113300" y="-1028700"/>
            <a:ext cx="5795493" cy="4114800"/>
          </a:xfrm>
          <a:custGeom>
            <a:avLst/>
            <a:gdLst/>
            <a:ahLst/>
            <a:cxnLst/>
            <a:rect l="l" t="t" r="r" b="b"/>
            <a:pathLst>
              <a:path w="5795493" h="4114800">
                <a:moveTo>
                  <a:pt x="5795493" y="0"/>
                </a:moveTo>
                <a:lnTo>
                  <a:pt x="0" y="0"/>
                </a:lnTo>
                <a:lnTo>
                  <a:pt x="0" y="4114800"/>
                </a:lnTo>
                <a:lnTo>
                  <a:pt x="5795493" y="4114800"/>
                </a:lnTo>
                <a:lnTo>
                  <a:pt x="57954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-176370" y="880170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2238268" y="1777753"/>
            <a:ext cx="13583993" cy="3696254"/>
          </a:xfrm>
          <a:custGeom>
            <a:avLst/>
            <a:gdLst/>
            <a:ahLst/>
            <a:cxnLst/>
            <a:rect l="l" t="t" r="r" b="b"/>
            <a:pathLst>
              <a:path w="13583993" h="3696254">
                <a:moveTo>
                  <a:pt x="0" y="0"/>
                </a:moveTo>
                <a:lnTo>
                  <a:pt x="13583993" y="0"/>
                </a:lnTo>
                <a:lnTo>
                  <a:pt x="13583993" y="3696254"/>
                </a:lnTo>
                <a:lnTo>
                  <a:pt x="0" y="3696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Freeform 5"/>
          <p:cNvSpPr/>
          <p:nvPr/>
        </p:nvSpPr>
        <p:spPr>
          <a:xfrm>
            <a:off x="2238268" y="5788418"/>
            <a:ext cx="13583993" cy="4234644"/>
          </a:xfrm>
          <a:custGeom>
            <a:avLst/>
            <a:gdLst/>
            <a:ahLst/>
            <a:cxnLst/>
            <a:rect l="l" t="t" r="r" b="b"/>
            <a:pathLst>
              <a:path w="13583993" h="4234644">
                <a:moveTo>
                  <a:pt x="0" y="0"/>
                </a:moveTo>
                <a:lnTo>
                  <a:pt x="13583993" y="0"/>
                </a:lnTo>
                <a:lnTo>
                  <a:pt x="13583993" y="4234644"/>
                </a:lnTo>
                <a:lnTo>
                  <a:pt x="0" y="4234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6" name="TextBox 6"/>
          <p:cNvSpPr txBox="1"/>
          <p:nvPr/>
        </p:nvSpPr>
        <p:spPr>
          <a:xfrm>
            <a:off x="462166" y="158115"/>
            <a:ext cx="1736366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90" lvl="1" indent="-550545" algn="l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100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THIẾT KẾ THỰC NGHIỆM VÀ ĐÁNH GIÁ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4255" y="1140971"/>
            <a:ext cx="6056612" cy="422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ED00"/>
                </a:solidFill>
                <a:latin typeface="Arial Bold"/>
                <a:ea typeface="Arial Bold"/>
                <a:cs typeface="Arial Bold"/>
                <a:sym typeface="Arial Bold"/>
              </a:rPr>
              <a:t>4.3 ĐO KIỂM PHẦN CỨNG ESP32-S3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D48B8">
                <a:alpha val="100000"/>
              </a:srgbClr>
            </a:gs>
            <a:gs pos="50000">
              <a:srgbClr val="2E3794">
                <a:alpha val="100000"/>
              </a:srgbClr>
            </a:gs>
            <a:gs pos="100000">
              <a:srgbClr val="3D48B8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01758" y="-2691407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Freeform 3"/>
          <p:cNvSpPr/>
          <p:nvPr/>
        </p:nvSpPr>
        <p:spPr>
          <a:xfrm>
            <a:off x="9144000" y="7595593"/>
            <a:ext cx="6056613" cy="5382815"/>
          </a:xfrm>
          <a:custGeom>
            <a:avLst/>
            <a:gdLst/>
            <a:ahLst/>
            <a:cxnLst/>
            <a:rect l="l" t="t" r="r" b="b"/>
            <a:pathLst>
              <a:path w="6056613" h="5382815">
                <a:moveTo>
                  <a:pt x="0" y="0"/>
                </a:moveTo>
                <a:lnTo>
                  <a:pt x="6056613" y="0"/>
                </a:lnTo>
                <a:lnTo>
                  <a:pt x="6056613" y="5382814"/>
                </a:lnTo>
                <a:lnTo>
                  <a:pt x="0" y="5382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4" name="Freeform 4"/>
          <p:cNvSpPr/>
          <p:nvPr/>
        </p:nvSpPr>
        <p:spPr>
          <a:xfrm>
            <a:off x="1028700" y="8335366"/>
            <a:ext cx="952371" cy="922934"/>
          </a:xfrm>
          <a:custGeom>
            <a:avLst/>
            <a:gdLst/>
            <a:ahLst/>
            <a:cxnLst/>
            <a:rect l="l" t="t" r="r" b="b"/>
            <a:pathLst>
              <a:path w="952371" h="922934">
                <a:moveTo>
                  <a:pt x="0" y="0"/>
                </a:moveTo>
                <a:lnTo>
                  <a:pt x="952371" y="0"/>
                </a:lnTo>
                <a:lnTo>
                  <a:pt x="952371" y="922934"/>
                </a:lnTo>
                <a:lnTo>
                  <a:pt x="0" y="922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5" name="TextBox 5"/>
          <p:cNvSpPr txBox="1"/>
          <p:nvPr/>
        </p:nvSpPr>
        <p:spPr>
          <a:xfrm>
            <a:off x="10831127" y="3663948"/>
            <a:ext cx="5178493" cy="279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E8E803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3950933" y="5490527"/>
            <a:ext cx="694474" cy="673009"/>
          </a:xfrm>
          <a:custGeom>
            <a:avLst/>
            <a:gdLst/>
            <a:ahLst/>
            <a:cxnLst/>
            <a:rect l="l" t="t" r="r" b="b"/>
            <a:pathLst>
              <a:path w="694474" h="673009">
                <a:moveTo>
                  <a:pt x="0" y="0"/>
                </a:moveTo>
                <a:lnTo>
                  <a:pt x="694474" y="0"/>
                </a:lnTo>
                <a:lnTo>
                  <a:pt x="694474" y="673009"/>
                </a:lnTo>
                <a:lnTo>
                  <a:pt x="0" y="6730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7" name="Freeform 7"/>
          <p:cNvSpPr/>
          <p:nvPr/>
        </p:nvSpPr>
        <p:spPr>
          <a:xfrm>
            <a:off x="2949472" y="876300"/>
            <a:ext cx="6354017" cy="8229600"/>
          </a:xfrm>
          <a:custGeom>
            <a:avLst/>
            <a:gdLst/>
            <a:ahLst/>
            <a:cxnLst/>
            <a:rect l="l" t="t" r="r" b="b"/>
            <a:pathLst>
              <a:path w="6354017" h="8229600">
                <a:moveTo>
                  <a:pt x="0" y="0"/>
                </a:moveTo>
                <a:lnTo>
                  <a:pt x="6354016" y="0"/>
                </a:lnTo>
                <a:lnTo>
                  <a:pt x="63540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570</Words>
  <Application>Microsoft Office PowerPoint</Application>
  <PresentationFormat>Custom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Bold</vt:lpstr>
      <vt:lpstr>Canva Sans Bold</vt:lpstr>
      <vt:lpstr>Calibri</vt:lpstr>
      <vt:lpstr>Open Sans Bold</vt:lpstr>
      <vt:lpstr>HK Modular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Yellow Bold Modern Technology Keynote Presentation</dc:title>
  <cp:lastModifiedBy>phùng quân</cp:lastModifiedBy>
  <cp:revision>3</cp:revision>
  <dcterms:created xsi:type="dcterms:W3CDTF">2006-08-16T00:00:00Z</dcterms:created>
  <dcterms:modified xsi:type="dcterms:W3CDTF">2026-10-08T18:01:41Z</dcterms:modified>
  <dc:identifier>DAHXWkQ_hvA</dc:identifier>
</cp:coreProperties>
</file>