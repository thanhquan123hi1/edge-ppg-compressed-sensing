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19795"/>
                </a:solidFill>
                <a:latin typeface="Arial"/>
              </a:defRPr>
            </a:pPr>
            <a:r>
              <a:t>BÁO CÁO NGHIÊN CỨU &amp; ĐỒ ÁN TỐT NGHIỆP AIoT</a:t>
            </a:r>
          </a:p>
          <a:p>
            <a:pPr>
              <a:spcBef>
                <a:spcPts val="1200"/>
              </a:spcBef>
              <a:defRPr sz="2800" b="1">
                <a:solidFill>
                  <a:srgbClr val="FFFFFF"/>
                </a:solidFill>
                <a:latin typeface="Arial"/>
              </a:defRPr>
            </a:pPr>
            <a:r>
              <a:t>NÉN CẢM NHẬN TÍN HIỆU PPG:</a:t>
            </a:r>
            <a:br/>
            <a:r>
              <a:t>SO SÁNH OMP–DCT VÀ CÁC BỘ GIẢI MÃ HỌC SÂU</a:t>
            </a:r>
            <a:br/>
            <a:r>
              <a:t>TRÊN TẬP DỮ LIỆU PPG-DaLiA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931920"/>
            <a:ext cx="6858000" cy="2011680"/>
          </a:xfrm>
          <a:prstGeom prst="roundRect">
            <a:avLst/>
          </a:prstGeom>
          <a:solidFill>
            <a:srgbClr val="234673"/>
          </a:solidFill>
          <a:ln>
            <a:solidFill>
              <a:srgbClr val="2D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200" b="1">
                <a:solidFill>
                  <a:srgbClr val="319795"/>
                </a:solidFill>
                <a:latin typeface="Arial"/>
              </a:defRPr>
            </a:pPr>
            <a:r>
              <a:t>THÔNG TIN ĐỀ TÀI &amp; HỌC VIÊN</a:t>
            </a:r>
          </a:p>
          <a:p>
            <a:pPr>
              <a:defRPr sz="1300">
                <a:solidFill>
                  <a:srgbClr val="FFFFFF"/>
                </a:solidFill>
                <a:latin typeface="Arial"/>
              </a:defRPr>
            </a:pPr>
            <a:r>
              <a:t>• Sinh viên thực hiện : Phùng Lê Thanh Quân</a:t>
            </a:r>
          </a:p>
          <a:p>
            <a:pPr>
              <a:defRPr sz="1300">
                <a:solidFill>
                  <a:srgbClr val="FFFFFF"/>
                </a:solidFill>
                <a:latin typeface="Arial"/>
              </a:defRPr>
            </a:pPr>
            <a:r>
              <a:t>• Mã số sinh viên     : 23110145</a:t>
            </a:r>
          </a:p>
          <a:p>
            <a:pPr>
              <a:defRPr sz="1300">
                <a:solidFill>
                  <a:srgbClr val="E2E8F0"/>
                </a:solidFill>
                <a:latin typeface="Arial"/>
              </a:defRPr>
            </a:pPr>
            <a:r>
              <a:t>• Nền tảng thực nghiệm : ESP32-S3 SoC &amp; PyTorch Edge Gateway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3931920"/>
            <a:ext cx="2743200" cy="2011680"/>
          </a:xfrm>
          <a:prstGeom prst="roundRect">
            <a:avLst/>
          </a:prstGeom>
          <a:solidFill>
            <a:srgbClr val="1C3A62"/>
          </a:solidFill>
          <a:ln>
            <a:solidFill>
              <a:srgbClr val="319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100" b="1">
                <a:solidFill>
                  <a:srgbClr val="319795"/>
                </a:solidFill>
                <a:latin typeface="Arial"/>
              </a:defRPr>
            </a:pPr>
            <a:r>
              <a:t>CHỈ TIÊU KHOA HỌC</a:t>
            </a:r>
          </a:p>
          <a:p>
            <a:pPr>
              <a:defRPr sz="1100">
                <a:solidFill>
                  <a:srgbClr val="FFFFFF"/>
                </a:solidFill>
                <a:latin typeface="Arial"/>
              </a:defRPr>
            </a:pPr>
            <a:r>
              <a:t>• Giảm PRD: 54.13% (ĐẠT)</a:t>
            </a:r>
          </a:p>
          <a:p>
            <a:pPr>
              <a:defRPr sz="1100">
                <a:solidFill>
                  <a:srgbClr val="FFFFFF"/>
                </a:solidFill>
                <a:latin typeface="Arial"/>
              </a:defRPr>
            </a:pPr>
            <a:r>
              <a:t>• ESP32 Time: 1.02 ms (ĐẠT)</a:t>
            </a:r>
          </a:p>
          <a:p>
            <a:pPr>
              <a:defRPr sz="1100">
                <a:solidFill>
                  <a:srgbClr val="FFFFFF"/>
                </a:solidFill>
                <a:latin typeface="Arial"/>
              </a:defRPr>
            </a:pPr>
            <a:r>
              <a:t>• RAM nhúng: 3.88 KiB (ĐẠT)</a:t>
            </a:r>
          </a:p>
          <a:p>
            <a:pPr>
              <a:defRPr sz="1100">
                <a:solidFill>
                  <a:srgbClr val="FFFFFF"/>
                </a:solidFill>
                <a:latin typeface="Arial"/>
              </a:defRPr>
            </a:pPr>
            <a:r>
              <a:t>• Benchmark: 15 Subjects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ĐẶT VẤN ĐỀ | SLIDE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Bài toán và mục tiêu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Compressed Sensing kết hợp giải mã học sâu giúp cân bằng tối ưu giữa tỷ lệ nén, chất lượng tái tạo và độ trễ biên.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4389120"/>
          </a:xfrm>
          <a:prstGeom prst="roundRect">
            <a:avLst/>
          </a:prstGeom>
          <a:solidFill>
            <a:srgbClr val="EDF2F7"/>
          </a:solidFill>
          <a:ln w="2540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sz="1300" b="1">
                <a:solidFill>
                  <a:srgbClr val="1A365D"/>
                </a:solidFill>
                <a:latin typeface="Arial"/>
              </a:defRPr>
            </a:pPr>
            <a:r>
              <a:t>1. THÁCH THỨC BIÊN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Thiết bị đeo y tế thu nhận PPG liên tục ở Fs = 64 Hz.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Truyền dữ liệu thô liên tục tiêu tốn năng lượng vô tuyến.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Cần giảm tải băng thông và dữ liệu truyền ngay tại nút cảm biến.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657600" cy="4389120"/>
          </a:xfrm>
          <a:prstGeom prst="roundRect">
            <a:avLst/>
          </a:prstGeom>
          <a:solidFill>
            <a:srgbClr val="EDF2F7"/>
          </a:solidFill>
          <a:ln w="2540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sz="1300" b="1">
                <a:solidFill>
                  <a:srgbClr val="2B6CB0"/>
                </a:solidFill>
                <a:latin typeface="Arial"/>
              </a:defRPr>
            </a:pPr>
            <a:r>
              <a:t>2. MỤC TIÊU KỸ THUẬT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Nén cảm nhận (Compressed Sensing) bằng phép chiếu tuyến tính nhẹ.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Giảm 66.8% kích thước gói tin tại cấu hình mục tiêu M = 77.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So sánh 3 bộ giải mã: OMP–DCT, CNN 1D và ResLinCNN_Lite.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Kiểm chứng trên nền tảng vi điều khiển thực tế ESP32-S3.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463040"/>
            <a:ext cx="3017520" cy="4389120"/>
          </a:xfrm>
          <a:prstGeom prst="roundRect">
            <a:avLst/>
          </a:prstGeom>
          <a:solidFill>
            <a:srgbClr val="EDF2F7"/>
          </a:solidFill>
          <a:ln w="25400">
            <a:solidFill>
              <a:srgbClr val="319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sz="1300" b="1">
                <a:solidFill>
                  <a:srgbClr val="319795"/>
                </a:solidFill>
                <a:latin typeface="Arial"/>
              </a:defRPr>
            </a:pPr>
            <a:r>
              <a:t>3. TIÊU CHÍ ĐÁNH GIÁ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Chất lượng tái tạo: Macro-PRD (%), RMSE, SNRrec (dB).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Độ ổn định: Khảo sát 15 đối tượng và 3 hạt giống ngẫu nhiên.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Chi phí biên: Độ trễ CPU trạm thu, RAM/Flash trên vi điều khiển.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Tính toàn vẹn: Kiểm chứng giao thức đóng gói và mã CRC-32.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DỮ LIỆU NGHIÊN CỨU | SLIDE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Tập dữ liệu chuẩn quốc tế PPG-DaLiA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Nghiên cứu sử dụng duy nhất tín hiệu BVP cổ tay trong điều kiện sinh hoạt tự do; không dùng ECG làm ground-truth.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Nguồn gốc chuẩn: Bộ dữ liệu benchmark quốc tế PPG-DaLiA thu thập từ 15 tình nguyện viên (S1 – S15).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Thiết bị thu nhận: Cảm biến quang học xung thể tích máu (BVP) trên vòng đeo tay Empatica E4 ở tần số 64 Hz.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Điều kiện thu thập: Người dùng sinh hoạt tự do (ngồi làm việc, đi cầu thang, đạp xe ngoài trời) nên có nhiễu vận động mạnh.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Phạm vi bài toán: Chỉ sử dụng tín hiệu BVP cổ tay để nén và tái tạo; hoàn toàn độc lập, không dùng ECG làm tín hiệu tham chiếu sạch.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Phân chia 5-Fold Subject-Wise: 9 Train / 3 Val / 3 Test subjects mỗi fold, bảo đảm kiểm thử khách quan.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92240" y="1463040"/>
          <a:ext cx="49377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280160"/>
                <a:gridCol w="1280160"/>
                <a:gridCol w="128016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Thông số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Tập Train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Tập Val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Tập Test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Số đối tượng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9 subjects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3 subjects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3 subjects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Tỷ lệ tập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60.0%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20.0%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20.0%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Tần số Fs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64 Hz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64 Hz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64 Hz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Cửa sổ mẫu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N = 256 (4s)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N = 256 (4s)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N = 256 (4s)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Bước nhảy H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H = 128 (2s)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H = 128 (2s)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3748"/>
                          </a:solidFill>
                          <a:latin typeface="Arial"/>
                        </a:defRPr>
                      </a:pPr>
                      <a:r>
                        <a:t>H = 128 (2s)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Khám phá hình thái xung tín hiệu BVP thô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Tín hiệu BVP thô bị ảnh hưởng mạnh bởi trôi đường nền và nhiễu chuyển động, đòi hỏi tiền xử lý nhân quả nghiêm ngặt.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Dạng sóng thực tế: Biên độ và hình thái xung BVP phân hóa rõ nét giữa 15 đối tượng do thể trạng và trương lực mạch máu.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Trôi đường nền (Baseline Drift): Nhiễu tần số thấp phát sinh mạnh từ nhịp thở và sự dịch chuyển cảm biến.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Nhiễu chuyển động (Motion Artifacts): Vận động cổ tay làm biến dạng xung, gây gợn sóng giả tần số cao.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Kết luận EDA: Tín hiệu PPG không lý tưởng và không thưa tuyệt đối, đặt ra thách thức lớn cho khâu nén cảm nhận.</a:t>
            </a:r>
          </a:p>
        </p:txBody>
      </p:sp>
      <p:pic>
        <p:nvPicPr>
          <p:cNvPr id="6" name="Picture 5" descr="fig1_eda_raw_b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63040"/>
            <a:ext cx="5852160" cy="2910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Tiền xử lý tín hiệu: Bộ lọc Butterworth nhân quả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Bộ lọc IIR SOS nhân quả loại bỏ trôi đường nền và nhiễu cao tần mà không làm sai lệch pha thời gian thực.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Dải thông hữu ích: Lọc Butterworth thông dải 0.5 – 8.0 Hz (bảo toàn nhịp tim 30–240 bpm và đỉnh sóng mạch).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Thuật toán nhân quả: Thực thi hoàn toàn bằng cấu trúc Direct Form II Transposed (`sosfilt`), bảo đảm khả thi trên vi điều khiển.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Loại bỏ quá độ khởi động: Bỏ chính xác 320 mẫu đầu tiên (5.0 giây) để bộ lọc đạt trạng thái ổn định.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Bảo toàn tính liên tục: Cập nhật trạng thái trễ liên tục giữa các mẫu, tuyệt đối không dùng lọc phi nhân quả (filtfilt).</a:t>
            </a:r>
          </a:p>
        </p:txBody>
      </p:sp>
      <p:pic>
        <p:nvPicPr>
          <p:cNvPr id="6" name="Picture 5" descr="fig2_causal_fil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63040"/>
            <a:ext cx="5852160" cy="20838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Phân đoạn cửa sổ và chuẩn hóa Z-score Train-Only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Giao thức Z-score dựa hoàn toàn trên thống kê tập Train ngăn chặn triệt để rò rỉ dữ liệu sang tập Test.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Độ dài cửa sổ cố định: N = 256 mẫu (4.0 giây tại Fs = 64 Hz), bước trượt H = 128 mẫu (chu kỳ phát sinh 2.0 giây, chồng lấn 50%).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Nguyên tắc Train-Only: Kỳ vọng và phương sai (mu, sigma) được tính duy nhất trên tập Train của từng Fold.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Chống rò rỉ dữ liệu: Không chuẩn hóa độc lập từng cửa sổ test; tham số Z-score được khóa cứng vào firmware nút biên.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Bảo toàn biên độ: Biến đổi affine giữ nguyên tỷ lệ động học giữa các cửa sổ kế tiếp nhau.</a:t>
            </a:r>
          </a:p>
        </p:txBody>
      </p:sp>
      <p:pic>
        <p:nvPicPr>
          <p:cNvPr id="6" name="Picture 5" descr="fig3_window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63040"/>
            <a:ext cx="5852160" cy="15335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Đặc tính nén năng lượng và tính thưa xấp xỉ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Tín hiệu PPG có năng lượng tập trung mạnh trên cơ sở DCT-II, bảo đảm tính khả thi cho lý thuyết Nén cảm nhận.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Cơ sở DCT-II trực chuẩn: Hơn 90% tổng năng lượng tín hiệu BVP tập trung ở 16 hệ số DCT đầu tiên; hơn 99% ở 64 hệ số.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Phổ phân rã SVD: Giá trị kỳ dị suy giảm nhanh, khẳng định tín hiệu PPG nằm trong không gian con thấp chiều.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Khái niệm thưa xấp xỉ: Trong điều kiện vận động thực tế, PPG chỉ là 'xấp xỉ thưa' (compressible/approximate sparse), không thưa tuyệt đối.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Ý nghĩa với CS: Cơ sở lý thuyết vững chắc để khôi phục dạng sóng từ số lượng phép đo nén M nhỏ hơn nhiều so với N = 256.</a:t>
            </a:r>
          </a:p>
        </p:txBody>
      </p:sp>
      <p:pic>
        <p:nvPicPr>
          <p:cNvPr id="6" name="Picture 5" descr="fig5_dct_energy_comp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63040"/>
            <a:ext cx="5852160" cy="16530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Sơ đồ khối toàn trình hệ thống AIoT: Nút biên đến Trạm thu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Kiến trúc toàn trình module hóa phân định rõ năng lực tính toán siêu nhẹ tại nút biên và khả năng giải mã song song tại trạm thu.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2D3748"/>
                </a:solidFill>
                <a:latin typeface="Arial"/>
              </a:defRPr>
            </a:pPr>
            <a:r>
              <a:t>• Phân chia kiến trúc: Nút nhúng ESP32-S3 đảm nhận lọc, nén và đóng gói; Máy trạm biên Gateway giải mã đa phương pháp.</a:t>
            </a:r>
          </a:p>
          <a:p>
            <a:pPr>
              <a:spcAft>
                <a:spcPts val="200"/>
              </a:spcAft>
              <a:defRPr sz="1250">
                <a:solidFill>
                  <a:srgbClr val="2D3748"/>
                </a:solidFill>
                <a:latin typeface="Arial"/>
              </a:defRPr>
            </a:pPr>
            <a:r>
              <a:t>• Luồng tín hiệu: BVP 64 Hz → Lọc SOS 0.5–8 Hz → Z-score → Đo nén y = Φx → Lượng tử INT16 → Khung tin 16B → 3 Bộ giải mã.</a:t>
            </a:r>
          </a:p>
        </p:txBody>
      </p:sp>
      <p:pic>
        <p:nvPicPr>
          <p:cNvPr id="6" name="Picture 5" descr="pipeline_3deco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6000"/>
            <a:ext cx="1045784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Mô hình Nén cảm nhận và Lượng tử hóa động INT16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Ma trận Rademacher bit-packed và cơ chế lượng tử hóa INT16 giúp tối ưu hóa bộ nhớ Flash và giảm 50% băng thông payload.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Phép chiếu tuyến tính nhẹ: y = Φx, với x ∈ R^256, y ∈ R^M, ma trận Rademacher Φ ∈ {-1, +1}^(M x 256) sinh từ Seed 42.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Ba mức nén khảo sát: M = 51 (MR = 0.20), M = 77 (MR = 0.30 - cấu hình mục tiêu), M = 128 (MR = 0.50).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Bit-packing Flash: Nén 8 phần tử ma trận vào 1 byte, toàn bộ 3 ma trận chỉ tốn 8,192 bytes (xấp xỉ 8 KiB Flash).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Lượng tử hóa đối xứng động INT16: q = round(y / Delta), giảm 50% kích thước tải trọng payload so với Float32.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Tác động cực nhỏ: Sai số lượng tử hóa tối đa chỉ ở mức 10^-5, không làm suy giảm chất lượng tái tạo dạng sóng.</a:t>
            </a:r>
          </a:p>
        </p:txBody>
      </p:sp>
      <p:pic>
        <p:nvPicPr>
          <p:cNvPr id="6" name="Picture 5" descr="fig4_quantization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303520" cy="14980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Bộ giải mã truyền thống: Orthogonal Matching Pursuit (OMP)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OMP–DCT phụ thuộc chặt chẽ vào siêu tham số Kmax được tối ưu hóa nghiêm ngặt trên tập thẩm định.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Nguyên lý hoạt động: Thuật toán dò khớp trực giao giải bài toán tối ưu lặp tìm biểu diễn thưa trên từ điển A = ΦΨ (DCT-II).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Lựa chọn siêu tham số Kmax: Quét độc lập trên tập ứng viên {8, 16, 32, 64} theo tiêu chuẩn cực tiểu Validation Macro-PRD.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Kết quả quét tối ưu: Kmax = 8 tại M=51; Kmax = 16 tại M=77; Kmax = 64 tại M=128.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Hiện tượng quá khớp phần dư: Tại M=51 và 77, việc tăng Kmax vượt quá ngưỡng tối ưu làm tăng sai số do khớp phải nhiễu.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Nghiêm ngặt phương pháp: Khóa cứng Kmax từ tập Validation, tuyệt đối không chọn siêu tham số từ tập Test.</a:t>
            </a:r>
          </a:p>
        </p:txBody>
      </p:sp>
      <p:pic>
        <p:nvPicPr>
          <p:cNvPr id="6" name="Picture 5" descr="fig6_omp_kmax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63040"/>
            <a:ext cx="5852160" cy="219640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Kiến trúc mạng nơ-ron học sâu CNN 1D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CNN 1D phục hồi dạng sóng thông qua cơ chế tăng mẫu phân cấp và trích xuất đặc trưng hình thái cục bộ.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Luồng suy luận phân cấp: Vector đo ỹ (M) → Chiếu Linear(M, 256) → Reshape [B, 64, 4] → 4 Khối UpBlock → Conv1D → Tái tạo x̂.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Cấu trúc UpBlock: Nearest Upsampling (x2 hoặc x4) → Conv1D (k=3, p=1) → BatchNorm1D → LeakyReLU(0.1).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Tăng mẫu tuần tự: Chiều dài đặc trưng tăng dần: 4 → 8 → 32 → 128 → 256 mẫu.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Đầu ra tuyến tính: Lớp Conv1D(8, 1, k=3, p=1) cho tín hiệu tái tạo x̂ (256 mẫu), không kẹp biên hay phi tuyến ở tầng cuối.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Tham số cố định: 40,705 tham số tại M=77 (34,049 tại M=51; 53,761 tại M=128).</a:t>
            </a:r>
          </a:p>
        </p:txBody>
      </p:sp>
      <p:pic>
        <p:nvPicPr>
          <p:cNvPr id="6" name="Picture 5" descr="Sơ đồ kiến trúc bộ giải mã CNN 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463040"/>
            <a:ext cx="5669280" cy="1894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Mô hình mở rộng lai ghép: ResLinCNN_Lite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ResLinCNN_Lite kết hợp xấp xỉ tuyến tính toàn cục với hiệu chỉnh phần dư cục bộ qua các lớp tích chập giãn nở.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Bản chất mô hình: Mở rộng thực nghiệm bổ sung trong notebook, không phải kiến trúc ban đầu trong đề cương.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Cơ chế phân rã phần dư (Residual Formulation):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   1. Tầng Linear tạo xấp xỉ đường bao toàn cục ban đầu: x₀ = W_lin · ỹ.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   2. Nhánh CNN nhiều lớp giãn nở (Dilation d=1, 2, 4) chỉ học hiệu chỉnh sai số phần dư: r = CNN(ỹ).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   3. Tín hiệu đầu ra là tổng hòa: x̂ = x₀ + r thông qua Global Skip Connection.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Tối ưu hóa tham số: Khoảng 16,369 tham số phần dư, giảm tải gánh nặng hội tụ cho mạng nơ-ron sâu.</a:t>
            </a:r>
          </a:p>
        </p:txBody>
      </p:sp>
      <p:pic>
        <p:nvPicPr>
          <p:cNvPr id="6" name="Picture 5" descr="Sơ đồ Pipeline ResLinCNN_L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63040"/>
            <a:ext cx="5852160" cy="32935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HUẤN LUYỆN &amp; HỘI TỤ | SLIDE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Thiết lập thực nghiệm và sự hội tụ mô hình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Quy trình huấn luyện dừng sớm bảo đảm mô hình hội tụ mượt mà, đạt tính ổn định cao qua 3 hạt giống ngẫu nhiên.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Cấu hình tối ưu: Bộ tối ưu Adam, tốc độ học 0.001, kích thước lô 64, tối đa 100 epoch với hàm mất mát MSE.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Cơ chế dừng sớm: Giám sát Validation Macro-PRD với độ kiên nhẫn 10 epoch, tự động phục hồi checkpoint tốt nhất.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Ma trận 45 lượt huấn luyện: 5 Folds × 3 mức M × 3 Seeds (11, 22, 33) bảo đảm kiểm định tái lập khoa học.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Hội tụ ổn định: Đường cong Train Loss và Val Loss suy giảm mượt mà, không xuất hiện hiện tượng phân kỳ hay quá khớp.</a:t>
            </a:r>
          </a:p>
        </p:txBody>
      </p:sp>
      <p:pic>
        <p:nvPicPr>
          <p:cNvPr id="6" name="Picture 5" descr="fig7_cnn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5486400" cy="2059127"/>
          </a:xfrm>
          <a:prstGeom prst="rect">
            <a:avLst/>
          </a:prstGeom>
        </p:spPr>
      </p:pic>
      <p:pic>
        <p:nvPicPr>
          <p:cNvPr id="7" name="Picture 6" descr="fig7b_lite_trai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749039"/>
            <a:ext cx="5486400" cy="14151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Đánh đổi giữa Tỷ lệ nén và Chất lượng tái tạo (M = 51, 77, 128)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CNN 1D thể hiện ưu thế vượt trội ở dải nén cao (M=51, 77); OMP-DCT phát huy hiệu quả khi số phép đo dồi dào (M=128).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2D3748"/>
                </a:solidFill>
                <a:latin typeface="Arial"/>
              </a:defRPr>
            </a:pPr>
            <a:r>
              <a:t>• Tại M = 77 (cấu hình mục tiêu): CNN 1D đạt PRD 19.73%, giảm 54.13% sai số so với OMP-DCT (43.01%), vượt xa chỉ tiêu giảm ≥ 10%.</a:t>
            </a:r>
          </a:p>
          <a:p>
            <a:pPr>
              <a:spcAft>
                <a:spcPts val="200"/>
              </a:spcAft>
              <a:defRPr sz="1250">
                <a:solidFill>
                  <a:srgbClr val="2D3748"/>
                </a:solidFill>
                <a:latin typeface="Arial"/>
              </a:defRPr>
            </a:pPr>
            <a:r>
              <a:t>• Hiện tượng đảo chiều tại M = 128: OMP đạt PRD 4.25% (SNR 31.35 dB) nhờ đủ số phép đo cho cơ sở DCT; CNN 1D bão hòa ở mức 19.78%.</a:t>
            </a:r>
          </a:p>
          <a:p>
            <a:pPr>
              <a:spcAft>
                <a:spcPts val="200"/>
              </a:spcAft>
              <a:defRPr sz="1250">
                <a:solidFill>
                  <a:srgbClr val="2D3748"/>
                </a:solidFill>
                <a:latin typeface="Arial"/>
              </a:defRPr>
            </a:pPr>
            <a:r>
              <a:t>• Hiệu năng ResLinCNN_Lite: Đạt sai số PRD cực thấp trên cả 3 mức nén nhờ tận dụng cấu trúc xấp xỉ tuyến tính ban đầu.</a:t>
            </a:r>
          </a:p>
        </p:txBody>
      </p:sp>
      <p:pic>
        <p:nvPicPr>
          <p:cNvPr id="6" name="Picture 5" descr="fig11_tradeoff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12290125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Phân hóa chất lượng tái tạo trên 15 đối tượng (M = 77)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CNN 1D vượt trội OMP-DCT nhất quán trên tất cả 15 đối tượng, với mức giảm sai số PRD trung bình đạt 54.13%.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Tính đồng nhất: CNN 1D cải thiện chất lượng trên toàn bộ 15/15 đối tượng so với giải thuật truyền thống OMP-DCT.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Phân bố sai số CNN: Sai số PRD thấp nhất ở đối tượng S1 (16.96%), cao nhất ở S5 (21.97%), trung bình đạt 19.73% (±1.64%).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Mức giảm sai số tương đối: Lớn nhất ở đối tượng S9 (giảm 60.94%), nhỏ nhất ở S6 (giảm 47.03%).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Nhận xét nguyên nhân: Sự phân hóa phản ánh mức độ nhiễu chuyển động và biến thiên trương lực mạch giữa các cá nhân.</a:t>
            </a:r>
          </a:p>
        </p:txBody>
      </p:sp>
      <p:pic>
        <p:nvPicPr>
          <p:cNvPr id="6" name="Picture 5" descr="fig12_persubject_m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63040"/>
            <a:ext cx="5852160" cy="17335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Phân tích dạng sóng tái tạo theo 4 phân vị sai số (M = 77)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Đánh giá theo 4 phân vị sai số khẳng định độ tin cậy khoa học và tính ổn định tái tạo hình thái xung của học sâu.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2D3748"/>
                </a:solidFill>
                <a:latin typeface="Arial"/>
              </a:defRPr>
            </a:pPr>
            <a:r>
              <a:t>• Phương pháp đánh giá trung thực: Trích xuất dạng sóng tại 4 phân vị sai số thực nghiệm (p25, p50, p75, p99) thay vì chỉ chọn cửa sổ đẹp.</a:t>
            </a:r>
          </a:p>
          <a:p>
            <a:pPr>
              <a:spcAft>
                <a:spcPts val="200"/>
              </a:spcAft>
              <a:defRPr sz="1250">
                <a:solidFill>
                  <a:srgbClr val="2D3748"/>
                </a:solidFill>
                <a:latin typeface="Arial"/>
              </a:defRPr>
            </a:pPr>
            <a:r>
              <a:t>• Khả năng bảo toàn đỉnh: CNN 1D bảo toàn tốt đỉnh tâm thu (systolic peak) và rãnh tâm trương (dicrotic notch) ở dải phân vị p25 và p50.</a:t>
            </a:r>
          </a:p>
          <a:p>
            <a:pPr>
              <a:spcAft>
                <a:spcPts val="200"/>
              </a:spcAft>
              <a:defRPr sz="1250">
                <a:solidFill>
                  <a:srgbClr val="2D3748"/>
                </a:solidFill>
                <a:latin typeface="Arial"/>
              </a:defRPr>
            </a:pPr>
            <a:r>
              <a:t>• Ứng xử tại p99 (nhiễu cực đoan): Khi tín hiệu thô bị biến dạng nặng do chuyển động mạnh, cả hai mô hình đều tăng sai số cục bộ.</a:t>
            </a:r>
          </a:p>
        </p:txBody>
      </p:sp>
      <p:pic>
        <p:nvPicPr>
          <p:cNvPr id="6" name="Picture 5" descr="fig10_waveform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894683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Phân tích đối chuẩn mô hình tuyến tính Linear(77, 256)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Mô hình Linear Decoder làm sáng tỏ số bậc tự do hiệu dụng của tín hiệu PPG và lý giải nguồn gốc sức mạnh của ResLinCNN_Lite.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Kết quả bất ngờ của Linear: Một tầng Linear(77, 256) duy nhất tối ưu bằng Adam đạt Macro-PRD chỉ 2.49% (±0.52%), RMSE 0.0198, SNRrec 32.88 dB.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Cơ sở lý thuyết Slepian: Tín hiệu dải thông 7.5 Hz trong cửa sổ 4.0s có số bậc tự do hiệu dụng 2BT+1 ≈ 61 chiều. Do M = 77 &gt; 61, ánh xạ tuyến tính đã bảo toàn phần lớn thông tin.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Ý nghĩa với ResLinCNN_Lite: Khẳng định ResLinCNN_Lite đạt kết quả vượt bậc là nhờ thừa hưởng nền tảng xấp xỉ tuyến tính toàn cục cực mạnh này.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Cảnh báo học máy: Mô hình Linear toàn cục có nguy cơ ghi nhớ đặc trưng nội bộ tập dữ liệu và suy giảm khi gặp phân phối lạ (OOD).</a:t>
            </a:r>
          </a:p>
        </p:txBody>
      </p:sp>
      <p:pic>
        <p:nvPicPr>
          <p:cNvPr id="6" name="Picture 5" descr="fig13_linear_baselin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63040"/>
            <a:ext cx="5852160" cy="219640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Đánh giá Độ trễ giải mã đơn luồng trên CPU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CNN 1D có độ trễ suy luận tất định và vượt trội OMP-DCT ở các cấu hình nén chất lượng cao.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Môi trường chuẩn hóa: Đo kiểm đơn luồng trên CPU máy thu biên với kích thước lô batch = 1 mô phỏng thực tế.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Tính tất định của CNN 1D: Duy trì độ trễ ổn định quanh mức p50 ≈ 0.22 – 0.23 ms (p95 ≤ 0.36 ms), không phụ thuộc vào 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Sự biến thiên của OMP: Thời gian chạy tăng tuyến tính theo Kmax: 0.174 ms (M=51) → 0.345 ms (M=77) → 1.520 ms (M=128).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So sánh tốc độ: Tại M=77, CNN nhanh hơn OMP 1.52 lần; tại M=128, CNN nhanh hơn tới 6.88 lần.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Khả năng thời gian thực: Cả hai bộ giải mã đều có độ trễ &lt; 2 ms, nhỏ hơn rất nhiều so với chu kỳ cập nhật 2,000 ms của cảm biến.</a:t>
            </a:r>
          </a:p>
        </p:txBody>
      </p:sp>
      <p:pic>
        <p:nvPicPr>
          <p:cNvPr id="6" name="Picture 5" descr="fig8_cpu_latency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63040"/>
            <a:ext cx="5852160" cy="158999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NGHIÊN CỨU AIOT | SLIDE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Kiểm chứng phần cứng trong vòng lặp (HIL) trên ESP32-S3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Thực nghiệm HIL chứng minh thuật toán nén cảm nhận Rademacher hoàn toàn khả thi trên vi điều khiển ESP32-S3.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Giao thức HIL Replay: Phát lại chuỗi BVP thô liên tục qua UART; ESP32-S3 tự lọc SOS, chuẩn hóa, nén và đóng gói.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Thời gian mã hóa nhúng: Trung vị p50 = 1.021 ms (p95 = 1.022 ms) tại M = 77, hoàn thành xuất sắc Chỉ tiêu 3 (&lt; 100 ms).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Bộ nhớ RAM đỉnh tiêu thụ thêm: Chỉ 3,976 bytes (xấp xỉ 3.88 KiB), chiếm 6.1% hạn mức Chỉ tiêu 4 (&lt; 64 KiB).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Tính nhất quán số học: Vector q_int16 đạt sai số trong giới hạn ±1 LSB (`WITHIN_1_LSB`); mã CRC-32 đạt `PASS`.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>
                <a:solidFill>
                  <a:srgbClr val="2D3748"/>
                </a:solidFill>
                <a:latin typeface="Arial"/>
              </a:defRPr>
            </a:pPr>
            <a:r>
              <a:t>• An toàn gói tin: Trạm thu vượt qua 7/7 kịch bản tiêm lỗi an toàn (Fault Injection) phát hiện và loại bỏ gói tin sai lệch.</a:t>
            </a:r>
          </a:p>
        </p:txBody>
      </p:sp>
      <p:pic>
        <p:nvPicPr>
          <p:cNvPr id="6" name="Picture 5" descr="fig9_esp32_reco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63040"/>
            <a:ext cx="5852160" cy="182803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6CB0"/>
                </a:solidFill>
                <a:latin typeface="Arial"/>
              </a:defRPr>
            </a:pPr>
            <a:r>
              <a:t>TỔNG KẾT | SLIDE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Arial"/>
              </a:defRPr>
            </a:pPr>
            <a:r>
              <a:t>Kết luận và Hướng phát triển của Đề tài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19795"/>
                </a:solidFill>
                <a:latin typeface="Arial"/>
              </a:rPr>
              <a:t>THÔNG ĐIỆP CHÍNH: </a:t>
            </a:r>
            <a:r>
              <a:rPr sz="1100" i="1">
                <a:solidFill>
                  <a:srgbClr val="2D3748"/>
                </a:solidFill>
                <a:latin typeface="Arial"/>
              </a:rPr>
              <a:t>Đề tài đã hoàn thành chu trình nén cảm nhận biên toàn trình, mở ra hướng ứng dụng thiết thực cho các hệ thống IoMT.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4572000"/>
          </a:xfrm>
          <a:prstGeom prst="roundRect">
            <a:avLst/>
          </a:prstGeom>
          <a:solidFill>
            <a:srgbClr val="EDF2F7"/>
          </a:solidFill>
          <a:ln w="2540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300" b="1">
                <a:solidFill>
                  <a:srgbClr val="1A365D"/>
                </a:solidFill>
                <a:latin typeface="Arial"/>
              </a:defRPr>
            </a:pPr>
            <a:r>
              <a:t>KẾT LUẬN CỐT LÕI (4 ĐÓNG GÓP CHÍNH)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1. Nén nhúng siêu nhẹ: Rademacher bit-packed mã hóa chỉ mất 1.02 ms, tốn 3.88 KiB RAM và 8 KiB Flash trên ESP32-S3.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2. Ưu thế học sâu: CNN 1D giảm 54.13% sai số PRD so với OMP tại M=77, độ trễ suy luận ổn định ~0.23 ms trên CPU.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3. Mô hình ResLinCNN_Lite: Tận dụng thành công xấp xỉ tuyến tính toàn cục kết hợp hiệu chỉnh phần dư cục bộ.</a:t>
            </a:r>
          </a:p>
          <a:p>
            <a:pPr>
              <a:spcBef>
                <a:spcPts val="8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4. Tính minh bạch khoa học: Báo cáo trung thực việc Chỉ tiêu 1 chưa đạt ngưỡng 15% do dữ liệu vận động tự do phức tạp; 3/4 chỉ tiêu còn lại đạt hoàn hảo.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572000"/>
          </a:xfrm>
          <a:prstGeom prst="roundRect">
            <a:avLst/>
          </a:prstGeom>
          <a:solidFill>
            <a:srgbClr val="EDF2F7"/>
          </a:solidFill>
          <a:ln w="2540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300" b="1">
                <a:solidFill>
                  <a:srgbClr val="2B6CB0"/>
                </a:solidFill>
                <a:latin typeface="Arial"/>
              </a:defRPr>
            </a:pPr>
            <a:r>
              <a:t>HƯỚNG PHÁT TRIỂN TIẾP THEO</a:t>
            </a:r>
          </a:p>
          <a:p>
            <a:pPr>
              <a:spcBef>
                <a:spcPts val="10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Tối ưu hóa TinyML: Lượng tử hóa mô hình giải mã xuống INT8 để thực thi trực tiếp trên vi điều khiển biên.</a:t>
            </a:r>
          </a:p>
          <a:p>
            <a:pPr>
              <a:spcBef>
                <a:spcPts val="10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Đo kiểm năng lượng vật lý: Sử dụng thiết bị đo dòng chuyên dụng (Power Monitor) để định lượng chính xác năng lượng tiêu thụ.</a:t>
            </a:r>
          </a:p>
          <a:p>
            <a:pPr>
              <a:spcBef>
                <a:spcPts val="10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Cửa sổ thích nghi: Nghiên cứu cơ chế điều chỉnh kích thước cửa sổ N thích nghi theo biến thiên tần số tim tức thời.</a:t>
            </a:r>
          </a:p>
          <a:p>
            <a:pPr>
              <a:spcBef>
                <a:spcPts val="1000"/>
              </a:spcBef>
              <a:defRPr sz="1150">
                <a:solidFill>
                  <a:srgbClr val="2D3748"/>
                </a:solidFill>
                <a:latin typeface="Arial"/>
              </a:defRPr>
            </a:pPr>
            <a:r>
              <a:t>• Khái quát hóa lâm sàng: Đánh giá khả năng tổng quát hóa trên các tập dữ liệu bệnh lý tim mạch tại các cơ sở y tế.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