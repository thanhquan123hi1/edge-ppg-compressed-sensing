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BÁO CÁO TIỂU LUẬN KẾT THÚC HỌC PHẦN AIoT</a:t>
            </a:r>
          </a:p>
          <a:p>
            <a:pPr>
              <a:spcBef>
                <a:spcPts val="1000"/>
              </a:spcBef>
              <a:defRPr sz="2700" b="1">
                <a:solidFill>
                  <a:srgbClr val="FFFFFF"/>
                </a:solidFill>
                <a:latin typeface="Arial"/>
              </a:defRPr>
            </a:pPr>
            <a:r>
              <a:t>NÉN CẢM NHẬN TÍN HIỆU PPG:</a:t>
            </a:r>
            <a:br/>
            <a:r>
              <a:t>SO SÁNH OMP-DCT VÀ BỘ GIẢI MÃ CNN 1D</a:t>
            </a:r>
            <a:br/>
            <a:r>
              <a:t>TRÊN TẬP DỮ LIỆU PPG-DaLiA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6217920" cy="2194560"/>
          </a:xfrm>
          <a:prstGeom prst="roundRect">
            <a:avLst/>
          </a:prstGeom>
          <a:solidFill>
            <a:srgbClr val="234673"/>
          </a:solidFill>
          <a:ln>
            <a:solidFill>
              <a:srgbClr val="2D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200" b="1">
                <a:solidFill>
                  <a:srgbClr val="0D9488"/>
                </a:solidFill>
                <a:latin typeface="Arial"/>
              </a:defRPr>
            </a:pPr>
            <a:r>
              <a:t>THÔNG TIN HỌC PHẦN &amp; HỌC VIÊN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Sinh viên thực hiện : Phùng Lê Thanh Quân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Arial"/>
              </a:defRPr>
            </a:pPr>
            <a:r>
              <a:t>• Mã số sinh viên     : 23110145</a:t>
            </a:r>
          </a:p>
          <a:p>
            <a:pPr>
              <a:spcBef>
                <a:spcPts val="400"/>
              </a:spcBef>
              <a:defRPr sz="1250">
                <a:solidFill>
                  <a:srgbClr val="E2E8F0"/>
                </a:solidFill>
                <a:latin typeface="Arial"/>
              </a:defRPr>
            </a:pPr>
            <a:r>
              <a:t>• Nền tảng thực nghiệm: ESP32-S3 SoC &amp; PyTorch Edge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3931920"/>
            <a:ext cx="3840480" cy="2194560"/>
          </a:xfrm>
          <a:prstGeom prst="roundRect">
            <a:avLst/>
          </a:prstGeom>
          <a:solidFill>
            <a:srgbClr val="1C3A62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00" b="1">
                <a:solidFill>
                  <a:srgbClr val="0D9488"/>
                </a:solidFill>
                <a:latin typeface="Arial"/>
              </a:defRPr>
            </a:pPr>
            <a:r>
              <a:t>ĐỐI CHUẨN CHỈ TIÊU KỸ THUẬT</a:t>
            </a:r>
          </a:p>
          <a:p>
            <a:pPr>
              <a:spcBef>
                <a:spcPts val="300"/>
              </a:spcBef>
              <a:defRPr sz="1050">
                <a:solidFill>
                  <a:srgbClr val="FCA5A5"/>
                </a:solidFill>
                <a:latin typeface="Arial"/>
              </a:defRPr>
            </a:pPr>
            <a:r>
              <a:t>• Chỉ tiêu 1 (PRD ≤ 15%) : 19.73% (CHƯA ĐẠT)</a:t>
            </a:r>
          </a:p>
          <a:p>
            <a:pPr>
              <a:spcBef>
                <a:spcPts val="300"/>
              </a:spcBef>
              <a:defRPr sz="1050">
                <a:solidFill>
                  <a:srgbClr val="BBF7D0"/>
                </a:solidFill>
                <a:latin typeface="Arial"/>
              </a:defRPr>
            </a:pPr>
            <a:r>
              <a:t>• Chỉ tiêu 2 (Giảm ≥ 10%) : Giảm 54.13% (ĐẠT)</a:t>
            </a:r>
          </a:p>
          <a:p>
            <a:pPr>
              <a:spcBef>
                <a:spcPts val="300"/>
              </a:spcBef>
              <a:defRPr sz="1050">
                <a:solidFill>
                  <a:srgbClr val="BBF7D0"/>
                </a:solidFill>
                <a:latin typeface="Arial"/>
              </a:defRPr>
            </a:pPr>
            <a:r>
              <a:t>• Chỉ tiêu 3 (Time ≤ 50ms): 1.021 ms (ĐẠT)</a:t>
            </a:r>
          </a:p>
          <a:p>
            <a:pPr>
              <a:spcBef>
                <a:spcPts val="300"/>
              </a:spcBef>
              <a:defRPr sz="1050">
                <a:solidFill>
                  <a:srgbClr val="BBF7D0"/>
                </a:solidFill>
                <a:latin typeface="Arial"/>
              </a:defRPr>
            </a:pPr>
            <a:r>
              <a:t>• Chỉ tiêu 4 (RAM ≤ 32KiB): 3.88 KiB (ĐẠT)</a:t>
            </a:r>
          </a:p>
          <a:p>
            <a:pPr>
              <a:spcBef>
                <a:spcPts val="300"/>
              </a:spcBef>
              <a:defRPr sz="1050">
                <a:solidFill>
                  <a:srgbClr val="E2E8F0"/>
                </a:solidFill>
                <a:latin typeface="Arial"/>
              </a:defRPr>
            </a:pPr>
            <a:r>
              <a:t>• Đánh giá khách quan: 15 đối tượng PPG-DaLiA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02 | ĐẶT VẤN ĐỀ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Bài toán và mục tiêu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Compressed Sensing kết hợp CNN 1D giúp giải quyết nút thắt cổ chai về năng lượng truyền thông trên thiết bị đeo IoT.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480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50" b="1">
                <a:solidFill>
                  <a:srgbClr val="1B365D"/>
                </a:solidFill>
                <a:latin typeface="Arial"/>
              </a:defRPr>
            </a:pPr>
            <a:r>
              <a:t>1. THÁCH THỨC BIÊN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Thiết bị đeo y tế đo PPG liên tục ở Fs = 64 Hz.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Truyền sóng vô tuyến tiêu hao 70–80% năng lượng pin.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Vi điều khiển eo hẹp RAM, khó chạy nén phức tạp.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657600" cy="4480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B7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50" b="1">
                <a:solidFill>
                  <a:srgbClr val="2B72BA"/>
                </a:solidFill>
                <a:latin typeface="Arial"/>
              </a:defRPr>
            </a:pPr>
            <a:r>
              <a:t>2. MỤC TIÊU KỸ THUẬT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Mã hóa nén tuyến tính nhẹ y = Φx trên nút biên.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Giảm 69.92% lưu lượng truyền tải tại M = 77.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So sánh chính: OMP-DCT và CNN 1D.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Baseline phụ: Linear; Mở rộng: ResLinCNN_Lite.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371600"/>
            <a:ext cx="3017520" cy="44805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50" b="1">
                <a:solidFill>
                  <a:srgbClr val="0D9488"/>
                </a:solidFill>
                <a:latin typeface="Arial"/>
              </a:defRPr>
            </a:pPr>
            <a:r>
              <a:t>3. TIÊU CHÍ ĐÁNH GIÁ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Chất lượng: Macro-PRD (%), RMSE, SNRrec (dB).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Độ ổn định: Khảo sát 15 đối tượng, 3 hạt giống.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Chi phí biên: Thời gian nén, RAM peak trên ESP32.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• Tính toàn vẹn: Đóng gói khung nhị phân và CRC-32.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03 | DỮ LIỆU NGHIÊN CỨU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Tập dữ liệu chuẩn quốc tế PPG-DaLiA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Nghiên cứu sử dụng duy nhất tín hiệu BVP cổ tay trong điều kiện sinh hoạt tự do; không dùng ECG làm ground-truth.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Arial"/>
              </a:defRPr>
            </a:pPr>
            <a:r>
              <a:t>• Benchmark thực tế: Thu thập từ 15 tình nguyện viên (S1 – S15) bằng vòng đeo Empatica E4 ở tần số 64 Hz.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Arial"/>
              </a:defRPr>
            </a:pPr>
            <a:r>
              <a:t>• Hoạt động tự do: Chứa nhiễu chuyển động mạnh (MA) từ sinh hoạt thường nhật (đi lại, leo cầu thang, làm việc).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Arial"/>
              </a:defRPr>
            </a:pPr>
            <a:r>
              <a:t>• Phạm vi bài toán: Chỉ dùng tín hiệu BVP cổ tay để nén và tái tạo; không dùng kênh ECG làm tín hiệu tham chiếu sạch.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Arial"/>
              </a:defRPr>
            </a:pPr>
            <a:r>
              <a:t>• Phân chia 5-Fold Subject-Wise: 9 Train / 3 Val / 3 Test subjects mỗi fold, kiểm định khách quan không rò rỉ đối tượng.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463040"/>
          <a:ext cx="5120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Thông số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Tập Train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Tập Val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Tập Test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Số đối tượng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 subjects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 subjects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 subjects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Tỷ lệ tập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Tần số Fs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64 Hz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64 Hz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64 Hz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Cửa sổ mẫu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 = 256 (4s)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 = 256 (4s)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N = 256 (4s)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Bước nhảy 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 = 128 (2s)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 = 128 (2s)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H = 128 (2s)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04 | KHÁM PHÁ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Khám phá hình thái xung tín hiệu BVP thô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Tín hiệu BVP thô bị ảnh hưởng mạnh bởi trôi đường nền và nhiễu vận động, đòi hỏi tiền xử lý nhân quả nghiêm ngặt.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Dạng sóng thực tế: Biên độ và hình thái phân hóa mạnh giữa 15 đối tượng do thể trạng và mạch máu.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Trôi đường nền: Nhiễu tần số thấp phát sinh mạnh từ nhịp thở và sự dịch chuyển cảm biến quang học.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Nhiễu chuyển động (MA): Vận động cổ tay làm biến dạng xung, gây méo đỉnh và tạo sóng giả tần số cao.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Thách thức nén: Tín hiệu PPG thực tế không thưa tuyệt đối, đặt ra yêu cầu khắt khe cho khâu nén cảm nhận.</a:t>
            </a:r>
          </a:p>
        </p:txBody>
      </p:sp>
      <p:pic>
        <p:nvPicPr>
          <p:cNvPr id="6" name="Picture 5" descr="fig1_eda_raw_b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852160" cy="291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05 | TIỀN XỬ LÝ TÍN HIỆU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Tiền xử lý tín hiệu: Bộ lọc Butterworth nhân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Bộ lọc IIR SOS nhân quả loại bỏ trôi đường nền và nhiễu cao tần mà không vi phạm tính nhân quả thời gian thực.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Dải thông hữu ích: Lọc dải 0.5 – 8.0 Hz, bảo toàn nhịp tim 30–240 bpm và các sóng hài PPG quan trọng.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Thuật toán nhân quả: Thực thi bằng cấu trúc Direct Form II Transposed (`sosfilt`), phù hợp xử lý luồng trực tiếp.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Triệt tiêu quá độ: Loại bỏ 320 mẫu đầu tiên (5.0s) để bộ lọc ổn định; không dùng lọc hai chiều phi nhân quả.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Bảo toàn pha thời gian thực: Cập nhật trạng thái trễ liên tục giữa các mẫu, bảo đảm khả thi trên vi điều khiển.</a:t>
            </a:r>
          </a:p>
        </p:txBody>
      </p:sp>
      <p:pic>
        <p:nvPicPr>
          <p:cNvPr id="6" name="Picture 5" descr="fig2_causal_fil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852160" cy="20838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06 | TIỀN XỬ LÝ TÍN HIỆU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Phân đoạn cửa sổ và chuẩn hóa Z-score Train-Only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Chuẩn hóa Train-Only ngăn chặn triệt để rò rỉ dữ liệu sang tập Test và phù hợp triển khai nhúng cố định.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Kích thước cửa sổ: N = 256 mẫu (4.0s tại Fs = 64 Hz), bước trượt H = 128 mẫu (chu kỳ 2.0s, chồng lấn 50%).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Train-only Z-score: Tham số kỳ vọng và phương sai (μ, σ) chỉ tính duy nhất trên 9 đối tượng Train của từng fold.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Chống rò rỉ dữ liệu: Tham số được khóa cứng vào firmware nút biên, không tính lại trên tập kiểm thử.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Bảo toàn biên độ: Biến đổi affine giữ nguyên tỷ lệ động học giữa các cửa sổ kế tiếp nhau.</a:t>
            </a:r>
          </a:p>
        </p:txBody>
      </p:sp>
      <p:pic>
        <p:nvPicPr>
          <p:cNvPr id="6" name="Picture 5" descr="fig3_window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852160" cy="15335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07 | CƠ SỞ LÝ THUYẾT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Đặc tính nén năng lượng và tính thưa xấp xỉ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Năng lượng PPG tập trung mạnh ở các hệ số DCT tần số thấp, tạo cơ sở lý thuyết vững chắc cho nén cảm nhận.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Cơ sở DCT-II trực chuẩn: Hơn 90% tổng năng lượng tập trung ở 16 hệ số đầu; hơn 99% ở 64 hệ số đầu tiên.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Phổ phân rã SVD: Giá trị kỳ dị suy giảm nhanh, cho thấy tín hiệu PPG nằm trong không gian con thấp chiều.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Tính chất thưa xấp xỉ: Trong điều kiện vận động, PPG chỉ là 'xấp xỉ thưa' (compressible), không thưa tuyệt đối.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Tiền đề Compressed Sensing: Cho phép khôi phục dạng sóng từ số lượng ít phép đo nén M nhỏ hơn nhiều so với N = 256.</a:t>
            </a:r>
          </a:p>
        </p:txBody>
      </p:sp>
      <p:pic>
        <p:nvPicPr>
          <p:cNvPr id="6" name="Picture 5" descr="fig5_dct_energy_comp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852160" cy="16530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08 | KIẾN TRÚC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Sơ đồ khối toàn trình hệ thống AIoT: Nút biên đến Trạm thu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Kiến trúc toàn trình phân định rõ mã hóa siêu nhẹ tại nút biên và giải mã đa phương pháp tại trạm thu.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Phân chia kiến trúc: Nút nhúng ESP32-S3 lọc, nén và đóng gói; Máy trạm biên Gateway giải mã khôi phục tín hiệu.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Phân định mô hình: So sánh chính (OMP-DCT vs CNN 1D); Baseline bổ sung (Linear); Khảo sát mở rộng (ResLinCNN_Lite).</a:t>
            </a:r>
          </a:p>
        </p:txBody>
      </p:sp>
      <p:pic>
        <p:nvPicPr>
          <p:cNvPr id="6" name="Picture 5" descr="pipeline_3deco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0280"/>
            <a:ext cx="10457846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09 | MÃ HÓA BIÊN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Mô hình Nén cảm nhận và Lượng tử hóa động INT16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Ma trận Rademacher bit-packed và lượng tử hóa INT16 giúp tối ưu bộ nhớ Flash và giảm 50% băng thông payload.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75488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Phép chiếu tuyến tính nhẹ: y = Φx, ma trận Rademacher Φ ∈ {-1, +1}^(M x 256) sinh từ Seed 42 cố định.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Ba mức nén khảo sát: M = 51 (CR = 80%), M = 77 (CR = 70% - cấu hình mục tiêu), M = 128 (CR = 50%).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Bit-packing Flash: Nén 8 phần tử vào 1 byte, toàn bộ 3 ma trận chỉ tốn 8,192 bytes (≈ 8 KiB Flash).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Lượng tử hóa động INT16: q = round(y / Δ), giảm 50% kích thước payload, SQNR &gt; 87 dB, sai số cực đại ~ 10^-5.</a:t>
            </a:r>
          </a:p>
        </p:txBody>
      </p:sp>
      <p:pic>
        <p:nvPicPr>
          <p:cNvPr id="6" name="Picture 5" descr="fig4_quantization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5669280" cy="16013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10 | GIẢI MÃ CỔ ĐIỂN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Bộ giải mã truyền thống: Orthogonal Matching Pursuit (OMP)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OMP–DCT phụ thuộc chặt chẽ vào siêu tham số Kmax được tối ưu hóa nghiêm ngặt trên tập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Nguyên lý hoạt động: Thuật toán dò khớp trực giao giải bài toán thưa lặp trên từ điển A = ΦΨ (DCT-II).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Tối ưu siêu tham số Kmax: Quét độc lập trên tập Val: Kmax = 8 tại M=51; Kmax = 16 tại M=77; Kmax = 64 tại M=128.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Hiện tượng quá khớp phần dư: Tại M=51 và 77, tăng Kmax quá mức làm tăng sai số do khớp phải nhiễu.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Khóa cứng từ tập Val: Giữ nguyên Kmax tối ưu, bảo đảm tính công bằng tuyệt đối khi so sánh trên tập Test.</a:t>
            </a:r>
          </a:p>
        </p:txBody>
      </p:sp>
      <p:pic>
        <p:nvPicPr>
          <p:cNvPr id="6" name="Picture 5" descr="fig6_omp_kmax_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852160" cy="21964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11 | GIẢI MÃ HỌC SÂU CHÍNH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Kiến trúc bộ giải mã chính: Mạng nơ-ron CNN 1D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CNN 1D phục hồi dạng sóng qua cơ chế tăng mẫu phân cấp và trích xuất đặc trưng hình thái cục bộ.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75488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Mô hình chính thức: Là learned decoder duy nhất đăng ký trong đề cương để đối chuẩn với OMP-DCT.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Nâng chiều phân cấp: Linear(M, 256) → Reshape [B, 64, 4] → 4 khối UpBlock (Nearest x2/x4 + Conv1D + BN + LeakyReLU).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Tái tạo dạng sóng: Chiều dài đặc trưng tăng dần: 4 → 8 → 32 → 128 → 256; tầng cuối Conv1D(8, 1) tuyến tính.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Quy mô tham số: 40,705 tham số tại M=77 (34,049 tại M=51; 53,761 tại M=128), cấu trúc tinh gọn cho trạm thu.</a:t>
            </a:r>
          </a:p>
        </p:txBody>
      </p:sp>
      <p:pic>
        <p:nvPicPr>
          <p:cNvPr id="6" name="Picture 5" descr="Sơ đồ kiến trúc bộ giải mã CNN 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5669280" cy="18941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12 | KHẢO SÁT MỞ RỘNG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Khảo sát kiến trúc mở rộng: ResLinCNN_Lite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ResLinCNN_Lite là khảo sát mở rộng ngoài đối chứng chính, kết hợp xấp xỉ tuyến tính và tích chập giãn nở.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663440" cy="365760"/>
          </a:xfrm>
          <a:prstGeom prst="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45309"/>
                </a:solidFill>
                <a:latin typeface="Arial"/>
              </a:defRPr>
            </a:pPr>
            <a:r>
              <a:t>LƯU Ý: Khảo sát mở rộng ngoài đối chứng chính của đề tài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6634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Động lực khảo sát: Đánh giá tiềm năng kiến trúc residual kết hợp nhánh tuyến tính toàn cục với nhánh CNN học phần dư.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Nhánh Linear xấp xỉ thô: Ánh xạ x₀ = W·ỹ tạo đường bao cơ bản và bảo toàn khung năng lượng.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Nhánh CNN giãn nở: Sử dụng tích chập Dilated Conv1D (d=1, 2, 4) chỉ học hiệu chỉnh thành phần sai số dư r = CNN(ỹ).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Tổng hợp đầu ra: Tín hiệu x̂ = x₀ + r; nhánh phần dư chiếm khoảng 16,369 tham số.</a:t>
            </a:r>
          </a:p>
        </p:txBody>
      </p:sp>
      <p:pic>
        <p:nvPicPr>
          <p:cNvPr id="7" name="Picture 6" descr="Sơ đồ Pipeline ResLinCNN_L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852160" cy="32935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13 | HUẤN LUYỆN &amp; HỘI TỤ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Thiết lập thực nghiệm và sự hội tụ mô hình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Quy trình dừng sớm bảo đảm mô hình hội tụ ổn định qua 3 hạt giống ngẫu nhiên, không bị quá khớp.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Arial"/>
              </a:defRPr>
            </a:pPr>
            <a:r>
              <a:t>• Cấu hình huấn luyện: Bộ tối ưu Adam, tốc độ học 0.001, kích thước lô 64, tối đa 100 epoch với hàm mất mát MSE.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Arial"/>
              </a:defRPr>
            </a:pPr>
            <a:r>
              <a:t>• Cơ chế dừng sớm: Giám sát Validation Macro-PRD với patience 10 epoch, tự động phục hồi checkpoint tốt nhất.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Arial"/>
              </a:defRPr>
            </a:pPr>
            <a:r>
              <a:t>• Ma trận 45 lượt huấn luyện: 5 Folds × 3 mức M × 3 Seeds (11, 22, 33) bảo đảm kiểm định tái lập khoa học.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  <a:latin typeface="Arial"/>
              </a:defRPr>
            </a:pPr>
            <a:r>
              <a:t>• Đánh giá hội tụ: Đường cong loss suy giảm mượt mà, không xuất hiện hiện tượng phân kỳ giữa tập Train và Val.</a:t>
            </a:r>
          </a:p>
        </p:txBody>
      </p:sp>
      <p:pic>
        <p:nvPicPr>
          <p:cNvPr id="6" name="Picture 5" descr="fig7_cnn_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486400" cy="2059127"/>
          </a:xfrm>
          <a:prstGeom prst="rect">
            <a:avLst/>
          </a:prstGeom>
        </p:spPr>
      </p:pic>
      <p:pic>
        <p:nvPicPr>
          <p:cNvPr id="7" name="Picture 6" descr="fig7b_lite_trai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749039"/>
            <a:ext cx="5486400" cy="14151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14 | KẾT QUẢ ĐỐI CHUẨN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Đánh đổi giữa Tỷ lệ nén và Chất lượng tái tạo (M = 51, 77, 128)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CNN 1D hiệu quả hơn OMP-DCT ở M=51 và M=77; tại M=128, OMP-DCT đạt chất lượng tái tạo tốt hơn.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Cấu hình mục tiêu M=77: CNN 1D đạt PRD 19.73%, giảm tương đối 54.13% sai số so với OMP-DCT (43.01%), đạt Chỉ tiêu 2 (≥ 10%).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So sánh tại các mức M: M=51 (OMP 69.41% vs CNN 22.02%); M=128 (OMP 4.25% vs CNN 19.78% - OMP tốt hơn khi số phép đo dồi dào).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Khảo sát mở rộng: ResLinCNN_Lite đạt sai số rất thấp nhờ kết hợp tuyến tính toàn cục; trình bày như một hướng tham khảo.</a:t>
            </a:r>
          </a:p>
        </p:txBody>
      </p:sp>
      <p:pic>
        <p:nvPicPr>
          <p:cNvPr id="6" name="Picture 5" descr="fig11_tradeoff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12290125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15 | KẾT QUẢ ĐỐI CHUẨN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Phân hóa chất lượng tái tạo trên 15 đối tượng (M = 77)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CNN 1D cải thiện chất lượng nhất quán trên 15 đối tượng, với mức giảm sai số PRD trung bình 54.13%.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Tính đồng nhất: CNN 1D cải thiện chất lượng trên toàn bộ 15/15 đối tượng so với giải thuật truyền thống OMP-DCT.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Phân bố sai số CNN: PRD thấp nhất ở S1 (16.96%), cao nhất ở S5 (21.97%), trung bình 19.73% (±1.64%).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Mức giảm sai số tương đối: Giảm nhiều nhất ở S9 (60.94%), ít nhất ở S6 (47.03%), luôn vượt xa mức 10%.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Phản ánh thực tế: Mức độ phân hóa tương ứng với cường độ vận động và biến thiên trương lực mạch cá nhân.</a:t>
            </a:r>
          </a:p>
        </p:txBody>
      </p:sp>
      <p:pic>
        <p:nvPicPr>
          <p:cNvPr id="6" name="Picture 5" descr="fig12_persubject_m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852160" cy="17335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16 | PHÂN TÍCH DẠNG SÓNG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Phân tích dạng sóng tái tạo theo 4 phân vị sai số (M = 77)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Đánh giá theo 4 phân vị sai số (p25, p50, p75, p99) phản ánh trung thực khả năng tái tạo hình thái xung.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286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Đánh giá trung thực: Trích xuất các cửa sổ ở p25, p50, p75 và p99 để tránh chỉ lựa chọn các ví dụ đẹp.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Phân vị trung bình (p25, p50): CNN 1D bảo toàn tốt nhịp sóng và vị trí đỉnh tâm thu, khắc phục lỗi bậc thang của OMP.</a:t>
            </a:r>
          </a:p>
          <a:p>
            <a:pPr>
              <a:spcAft>
                <a:spcPts val="3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Trường hợp sai số rất cao (p99): Khi tín hiệu thô bị biến dạng nặng do chuyển động mạnh, cả hai mô hình đều tăng sai số cục bộ.</a:t>
            </a:r>
          </a:p>
        </p:txBody>
      </p:sp>
      <p:pic>
        <p:nvPicPr>
          <p:cNvPr id="6" name="Picture 5" descr="fig10_waveform_perce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77440"/>
            <a:ext cx="4894683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17 | PHÂN TÍCH ĐỐI CHUẨN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Phân tích đối chuẩn Linear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Linear Decoder đạt PRD 2.49%, gợi ý rằng M=77 có thể đã đủ lớn so với số bậc tự do hiệu dụng của tín hiệu sau lọc.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Baseline bổ sung: Mô hình Linear(77, 256) tối ưu bằng Adam đạt PRD = 2.49% ±0.52%, RMSE = 0.0198, SNRrec = 32.88 dB.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Giả thuyết bậc tự do: Dải thông 7.5 Hz trong cửa sổ 4.0s có số bậc tự do hiệu dụng ước lượng ~ 61 chiều.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Ý nghĩa lý thuyết: M=77 &gt; 61 hỗ trợ giả thuyết rằng số phép đo đã đủ lớn cho một phép nghịch đảo tuyến tính hiệu quả.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Cảnh báo học máy: Mô hình tuyến tính toàn cục có thể nhạy cảm trước biến động ngoài phân phối (OOD).</a:t>
            </a:r>
          </a:p>
        </p:txBody>
      </p:sp>
      <p:pic>
        <p:nvPicPr>
          <p:cNvPr id="6" name="Picture 5" descr="fig13_linear_bas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852160" cy="21964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18 | HIỆU NĂNG SUY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Đánh giá Độ trễ giải mã đơn luồng trên CPU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CNN 1D duy trì độ trễ ổn định ~0.23 ms trên CPU và vượt trội OMP-DCT ở các cấu hình nén chất lượng cao.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Môi trường chuẩn hóa: Đo kiểm đơn luồng trên CPU máy thu biên với kích thước lô batch = 1 theo luồng thời gian thực.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Độ trễ CNN 1D: Trong ba cấu hình M khảo sát, CNN duy trì độ trễ p50 ổn định quanh 0.22–0.23 ms (p95 ≤ 0.36 ms).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So sánh tốc độ: Tại M=77, CNN nhanh hơn OMP 1.52x; M=128 nhanh hơn 6.88x; tại M=51, OMP nhanh hơn CNN 1.28x.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Đáp ứng thời gian thực: Cả hai bộ giải mã đều có độ trễ &lt; 2 ms, nhỏ hơn rất nhiều so với chu kỳ cửa sổ 2,000 ms.</a:t>
            </a:r>
          </a:p>
        </p:txBody>
      </p:sp>
      <p:pic>
        <p:nvPicPr>
          <p:cNvPr id="6" name="Picture 5" descr="fig8_cpu_latency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852160" cy="158999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19 | KIỂM CHỨNG NHÚNG HIL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Kiểm chứng phần cứng trong vòng lặp (HIL) trên ESP32-S3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Thực nghiệm HIL xác nhận pipeline nén cảm nhận hoạt động ổn định trên vi điều khiển ESP32-S3.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5720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Tính khả thi thực nghiệm: Thực nghiệm HIL cho thấy giải pháp có tính khả thi trên ESP32-S3 trong cấu hình khảo sát.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Thời gian mã hóa nhúng: Trung vị p50 = 1.021 ms (p95 = 1.022 ms) tại M = 77, đáp ứng Chỉ tiêu 3 (&lt; 50 ms).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Tiêu thụ RAM: Bộ nhớ RAM đỉnh tiêu thụ thêm chỉ 3,976 bytes (≈ 3.88 KiB), đáp ứng Chỉ tiêu 4 (&lt; 32 KiB).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Độ chính xác số học: Vector q_int16 đạt sai số trong giới hạn ±1 LSB (`WITHIN_1_LSB`); mã CRC-32 đạt `PASS`.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An toàn gói tin: Trạm thu vượt qua 7/7 kịch bản Fault Injection (Config ID, Version, Flags, Delta, NaN/Inf, Length, CRC).</a:t>
            </a:r>
          </a:p>
        </p:txBody>
      </p:sp>
      <p:pic>
        <p:nvPicPr>
          <p:cNvPr id="6" name="Picture 5" descr="fig9_esp32_reconstr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852160" cy="182803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SLIDE 20 | TỔNG KẾT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Kết luận và Hướng phát triển của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Arial"/>
              </a:rPr>
              <a:t>THÔNG ĐIỆP CHÍNH: </a:t>
            </a:r>
            <a:r>
              <a:rPr sz="1100" i="1">
                <a:solidFill>
                  <a:srgbClr val="1E293B"/>
                </a:solidFill>
                <a:latin typeface="Arial"/>
              </a:rPr>
              <a:t>Đề tài đã hoàn thành chu trình nén cảm nhận biên toàn trình, đối chuẩn trung thực các chỉ tiêu kỹ thuật.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50" b="1">
                <a:solidFill>
                  <a:srgbClr val="1B365D"/>
                </a:solidFill>
                <a:latin typeface="Arial"/>
              </a:defRPr>
            </a:pPr>
            <a:r>
              <a:t>KẾT LUẬN CỐT LÕI (4 ĐÓNG GÓP CHÍNH)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1. Nén cảm nhận khả thi trên ESP32-S3: Mã hóa chỉ mất 1.021 ms, RAM peak 3.88 KiB, Flash 8 KiB.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2. Ưu thế CNN 1D tại M=77: Giảm tương đối 54.13% PRD so với OMP-DCT, độ trễ p50 ~ 0.23 ms trên CPU.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3. Baseline Linear quan trọng: Đạt PRD 2.49%, gợi ý vai trò của số bậc tự do hiệu dụng (~61 chiều).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4. Kiểm chứng HIL tin cậy: q_int16 đạt WITHIN_1_LSB, CRC-32 PASS và 7/7 Fault Injection PASS.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Khảo sát mở rộng: ResLinCNN_Lite cho thấy tiềm năng nghiên cứu tiếp của kiến trúc residual.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B7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250" b="1">
                <a:solidFill>
                  <a:srgbClr val="2B72BA"/>
                </a:solidFill>
                <a:latin typeface="Arial"/>
              </a:defRPr>
            </a:pPr>
            <a:r>
              <a:t>ĐÁNH GIÁ CHỈ TIÊU &amp; HƯỚNG PHÁT TRIỂN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Chỉ tiêu 1 (PRD ≤ 15%): CHƯA ĐẠT (19.73% do dữ liệu sinh hoạt thực tế có nhiễu vận động mạnh).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Chỉ tiêu 2 (Giảm PRD ≥ 10%): ĐẠT (đạt mức giảm 54.13%).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Chỉ tiêu 3 (Time ≤ 50 ms): ĐẠT (đạt 1.021 ms trên ESP32).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Chỉ tiêu 4 (RAM ≤ 32 KiB): ĐẠT (đạt 3.88 KiB trên ESP32).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   → 3/4 chỉ tiêu kỹ thuật đề tài đạt yêu cầu.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Hướng 1: Đo kiểm công suất tiêu thụ thực tế bằng máy đo dòng.</a:t>
            </a:r>
          </a:p>
          <a:p>
            <a:pPr>
              <a:spcBef>
                <a:spcPts val="5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• Hướng 2: Lượng tử hóa TinyML INT8 cho bộ giải mã trên vi điều khiển.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