
<file path=[Content_Types].xml><?xml version="1.0" encoding="utf-8"?>
<Types xmlns="http://schemas.openxmlformats.org/package/2006/content-types">
  <Default ContentType="application/x-fontdata" Extension="fntdata"/>
  <Default ContentType="image/gif" Extension="gif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</p:sldIdLst>
  <p:sldSz cx="18288000" cy="10287000"/>
  <p:notesSz cx="6858000" cy="9144000"/>
  <p:embeddedFontLst>
    <p:embeddedFont>
      <p:font typeface="Canva Sans Bold" charset="1" panose="020B0803030501040103"/>
      <p:regular r:id="rId19"/>
    </p:embeddedFont>
    <p:embeddedFont>
      <p:font typeface="HK Modular" charset="1" panose="00000800000000000000"/>
      <p:regular r:id="rId20"/>
    </p:embeddedFont>
    <p:embeddedFont>
      <p:font typeface="Poppins Light" charset="1" panose="00000400000000000000"/>
      <p:regular r:id="rId21"/>
    </p:embeddedFont>
    <p:embeddedFont>
      <p:font typeface="Arial Bold" charset="1" panose="020B0704020202020204"/>
      <p:regular r:id="rId22"/>
    </p:embeddedFont>
    <p:embeddedFont>
      <p:font typeface="Arial" charset="1" panose="020B0604020202020204"/>
      <p:regular r:id="rId23"/>
    </p:embeddedFont>
    <p:embeddedFont>
      <p:font typeface="Open Sans Bold" charset="1" panose="00000000000000000000"/>
      <p:regular r:id="rId2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22" Target="fonts/font22.fntdata" Type="http://schemas.openxmlformats.org/officeDocument/2006/relationships/font"/><Relationship Id="rId23" Target="fonts/font23.fntdata" Type="http://schemas.openxmlformats.org/officeDocument/2006/relationships/font"/><Relationship Id="rId24" Target="fonts/font24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png" Type="http://schemas.openxmlformats.org/officeDocument/2006/relationships/image"/><Relationship Id="rId11" Target="../media/image10.gif" Type="http://schemas.openxmlformats.org/officeDocument/2006/relationships/image"/><Relationship Id="rId12" Target="../media/image11.gif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gif" Type="http://schemas.openxmlformats.org/officeDocument/2006/relationships/image"/><Relationship Id="rId5" Target="../media/image4.pn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Relationship Id="rId8" Target="../media/image7.png" Type="http://schemas.openxmlformats.org/officeDocument/2006/relationships/image"/><Relationship Id="rId9" Target="../media/image8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6.svg" Type="http://schemas.openxmlformats.org/officeDocument/2006/relationships/image"/><Relationship Id="rId4" Target="../media/image1.png" Type="http://schemas.openxmlformats.org/officeDocument/2006/relationships/image"/><Relationship Id="rId5" Target="../media/image2.svg" Type="http://schemas.openxmlformats.org/officeDocument/2006/relationships/image"/><Relationship Id="rId6" Target="../media/image12.png" Type="http://schemas.openxmlformats.org/officeDocument/2006/relationships/image"/><Relationship Id="rId7" Target="../media/image11.gif" Type="http://schemas.openxmlformats.org/officeDocument/2006/relationships/image"/><Relationship Id="rId8" Target="../media/image9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6.svg" Type="http://schemas.openxmlformats.org/officeDocument/2006/relationships/image"/><Relationship Id="rId4" Target="../media/image1.png" Type="http://schemas.openxmlformats.org/officeDocument/2006/relationships/image"/><Relationship Id="rId5" Target="../media/image2.svg" Type="http://schemas.openxmlformats.org/officeDocument/2006/relationships/image"/><Relationship Id="rId6" Target="../media/image13.png" Type="http://schemas.openxmlformats.org/officeDocument/2006/relationships/image"/><Relationship Id="rId7" Target="../media/image10.gif" Type="http://schemas.openxmlformats.org/officeDocument/2006/relationships/image"/><Relationship Id="rId8" Target="../media/image14.png" Type="http://schemas.openxmlformats.org/officeDocument/2006/relationships/image"/><Relationship Id="rId9" Target="../media/image15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6.svg" Type="http://schemas.openxmlformats.org/officeDocument/2006/relationships/image"/><Relationship Id="rId4" Target="../media/image1.png" Type="http://schemas.openxmlformats.org/officeDocument/2006/relationships/image"/><Relationship Id="rId5" Target="../media/image2.svg" Type="http://schemas.openxmlformats.org/officeDocument/2006/relationships/image"/><Relationship Id="rId6" Target="../media/image16.png" Type="http://schemas.openxmlformats.org/officeDocument/2006/relationships/image"/><Relationship Id="rId7" Target="../media/image17.gif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6.svg" Type="http://schemas.openxmlformats.org/officeDocument/2006/relationships/image"/><Relationship Id="rId4" Target="../media/image1.png" Type="http://schemas.openxmlformats.org/officeDocument/2006/relationships/image"/><Relationship Id="rId5" Target="../media/image2.svg" Type="http://schemas.openxmlformats.org/officeDocument/2006/relationships/image"/><Relationship Id="rId6" Target="../media/image18.png" Type="http://schemas.openxmlformats.org/officeDocument/2006/relationships/image"/><Relationship Id="rId7" Target="../media/image19.png" Type="http://schemas.openxmlformats.org/officeDocument/2006/relationships/image"/><Relationship Id="rId8" Target="../media/image10.gif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6.svg" Type="http://schemas.openxmlformats.org/officeDocument/2006/relationships/image"/><Relationship Id="rId4" Target="../media/image1.png" Type="http://schemas.openxmlformats.org/officeDocument/2006/relationships/image"/><Relationship Id="rId5" Target="../media/image2.svg" Type="http://schemas.openxmlformats.org/officeDocument/2006/relationships/image"/><Relationship Id="rId6" Target="../media/image20.png" Type="http://schemas.openxmlformats.org/officeDocument/2006/relationships/image"/><Relationship Id="rId7" Target="../media/image21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6.svg" Type="http://schemas.openxmlformats.org/officeDocument/2006/relationships/image"/><Relationship Id="rId4" Target="../media/image1.png" Type="http://schemas.openxmlformats.org/officeDocument/2006/relationships/image"/><Relationship Id="rId5" Target="../media/image2.svg" Type="http://schemas.openxmlformats.org/officeDocument/2006/relationships/image"/><Relationship Id="rId6" Target="../media/image22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6.svg" Type="http://schemas.openxmlformats.org/officeDocument/2006/relationships/image"/><Relationship Id="rId4" Target="../media/image1.png" Type="http://schemas.openxmlformats.org/officeDocument/2006/relationships/image"/><Relationship Id="rId5" Target="../media/image2.svg" Type="http://schemas.openxmlformats.org/officeDocument/2006/relationships/image"/><Relationship Id="rId6" Target="../media/image23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6.svg" Type="http://schemas.openxmlformats.org/officeDocument/2006/relationships/image"/><Relationship Id="rId4" Target="../media/image1.png" Type="http://schemas.openxmlformats.org/officeDocument/2006/relationships/image"/><Relationship Id="rId5" Target="../media/image2.svg" Type="http://schemas.openxmlformats.org/officeDocument/2006/relationships/image"/><Relationship Id="rId6" Target="../media/image24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6.svg" Type="http://schemas.openxmlformats.org/officeDocument/2006/relationships/image"/><Relationship Id="rId4" Target="../media/image1.png" Type="http://schemas.openxmlformats.org/officeDocument/2006/relationships/image"/><Relationship Id="rId5" Target="../media/image2.svg" Type="http://schemas.openxmlformats.org/officeDocument/2006/relationships/image"/><Relationship Id="rId6" Target="../media/image25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6.svg" Type="http://schemas.openxmlformats.org/officeDocument/2006/relationships/image"/><Relationship Id="rId4" Target="../media/image1.png" Type="http://schemas.openxmlformats.org/officeDocument/2006/relationships/image"/><Relationship Id="rId5" Target="../media/image2.svg" Type="http://schemas.openxmlformats.org/officeDocument/2006/relationships/image"/><Relationship Id="rId6" Target="../media/image26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6.svg" Type="http://schemas.openxmlformats.org/officeDocument/2006/relationships/image"/><Relationship Id="rId4" Target="../media/image1.png" Type="http://schemas.openxmlformats.org/officeDocument/2006/relationships/image"/><Relationship Id="rId5" Target="../media/image2.svg" Type="http://schemas.openxmlformats.org/officeDocument/2006/relationships/image"/><Relationship Id="rId6" Target="../media/image27.png" Type="http://schemas.openxmlformats.org/officeDocument/2006/relationships/image"/><Relationship Id="rId7" Target="../media/image28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29.png" Type="http://schemas.openxmlformats.org/officeDocument/2006/relationships/image"/><Relationship Id="rId5" Target="../media/image30.svg" Type="http://schemas.openxmlformats.org/officeDocument/2006/relationships/image"/><Relationship Id="rId6" Target="../media/image7.png" Type="http://schemas.openxmlformats.org/officeDocument/2006/relationships/image"/><Relationship Id="rId7" Target="../media/image8.svg" Type="http://schemas.openxmlformats.org/officeDocument/2006/relationships/image"/><Relationship Id="rId8" Target="../media/image31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3D48B8">
                <a:alpha val="100000"/>
              </a:srgbClr>
            </a:gs>
            <a:gs pos="50000">
              <a:srgbClr val="2E3794">
                <a:alpha val="100000"/>
              </a:srgbClr>
            </a:gs>
            <a:gs pos="100000">
              <a:srgbClr val="3D48B8">
                <a:alpha val="100000"/>
              </a:srgbClr>
            </a:gs>
          </a:gsLst>
          <a:path path="circle">
            <a:fillToRect l="50000" r="50000" t="50000" b="50000"/>
          </a:path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231387" y="22242"/>
            <a:ext cx="6056613" cy="5382815"/>
          </a:xfrm>
          <a:custGeom>
            <a:avLst/>
            <a:gdLst/>
            <a:ahLst/>
            <a:cxnLst/>
            <a:rect r="r" b="b" t="t" l="l"/>
            <a:pathLst>
              <a:path h="5382815" w="6056613">
                <a:moveTo>
                  <a:pt x="0" y="0"/>
                </a:moveTo>
                <a:lnTo>
                  <a:pt x="6056613" y="0"/>
                </a:lnTo>
                <a:lnTo>
                  <a:pt x="6056613" y="5382815"/>
                </a:lnTo>
                <a:lnTo>
                  <a:pt x="0" y="538281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9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4">
            <a:alphaModFix amt="13000"/>
          </a:blip>
          <a:srcRect l="0" t="0" r="0" b="0"/>
          <a:stretch>
            <a:fillRect/>
          </a:stretch>
        </p:blipFill>
        <p:spPr>
          <a:xfrm flipH="false" flipV="false" rot="0">
            <a:off x="2177482" y="309614"/>
            <a:ext cx="7982712" cy="8229600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-151279" y="2563169"/>
            <a:ext cx="12998344" cy="44573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56"/>
              </a:lnSpc>
              <a:spcBef>
                <a:spcPct val="0"/>
              </a:spcBef>
            </a:pPr>
            <a:r>
              <a:rPr lang="en-US" b="true" sz="4968" strike="noStrike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ĐỀ TÀI C9: </a:t>
            </a:r>
          </a:p>
          <a:p>
            <a:pPr algn="ctr" marL="0" indent="0" lvl="0">
              <a:lnSpc>
                <a:spcPts val="6956"/>
              </a:lnSpc>
              <a:spcBef>
                <a:spcPct val="0"/>
              </a:spcBef>
            </a:pPr>
            <a:r>
              <a:rPr lang="en-US" b="true" sz="4968" strike="noStrike">
                <a:solidFill>
                  <a:srgbClr val="E8E803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NÉN CẢM NHẬN TÍN HIỆU PPG </a:t>
            </a:r>
          </a:p>
          <a:p>
            <a:pPr algn="ctr" marL="0" indent="0" lvl="0">
              <a:lnSpc>
                <a:spcPts val="7283"/>
              </a:lnSpc>
              <a:spcBef>
                <a:spcPct val="0"/>
              </a:spcBef>
            </a:pPr>
            <a:r>
              <a:rPr lang="en-US" b="true" sz="5202" strike="noStrike">
                <a:solidFill>
                  <a:srgbClr val="E8E803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SO SÁNH OMP–DCT VÀ BỘ GIẢI MÃ CNN 1D TRÊN TẬP DỮ LIỆU PPG-DaLiA</a:t>
            </a:r>
          </a:p>
          <a:p>
            <a:pPr algn="l" marL="0" indent="0" lvl="0">
              <a:lnSpc>
                <a:spcPts val="6956"/>
              </a:lnSpc>
              <a:spcBef>
                <a:spcPct val="0"/>
              </a:spcBef>
            </a:pPr>
          </a:p>
        </p:txBody>
      </p:sp>
      <p:grpSp>
        <p:nvGrpSpPr>
          <p:cNvPr name="Group 5" id="5"/>
          <p:cNvGrpSpPr/>
          <p:nvPr/>
        </p:nvGrpSpPr>
        <p:grpSpPr>
          <a:xfrm rot="0">
            <a:off x="393737" y="8791346"/>
            <a:ext cx="8750263" cy="933908"/>
            <a:chOff x="0" y="0"/>
            <a:chExt cx="2304596" cy="245968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304596" cy="245968"/>
            </a:xfrm>
            <a:custGeom>
              <a:avLst/>
              <a:gdLst/>
              <a:ahLst/>
              <a:cxnLst/>
              <a:rect r="r" b="b" t="t" l="l"/>
              <a:pathLst>
                <a:path h="245968" w="2304596">
                  <a:moveTo>
                    <a:pt x="88476" y="0"/>
                  </a:moveTo>
                  <a:lnTo>
                    <a:pt x="2216120" y="0"/>
                  </a:lnTo>
                  <a:cubicBezTo>
                    <a:pt x="2239585" y="0"/>
                    <a:pt x="2262089" y="9322"/>
                    <a:pt x="2278682" y="25914"/>
                  </a:cubicBezTo>
                  <a:cubicBezTo>
                    <a:pt x="2295274" y="42507"/>
                    <a:pt x="2304596" y="65011"/>
                    <a:pt x="2304596" y="88476"/>
                  </a:cubicBezTo>
                  <a:lnTo>
                    <a:pt x="2304596" y="157491"/>
                  </a:lnTo>
                  <a:cubicBezTo>
                    <a:pt x="2304596" y="180957"/>
                    <a:pt x="2295274" y="203461"/>
                    <a:pt x="2278682" y="220053"/>
                  </a:cubicBezTo>
                  <a:cubicBezTo>
                    <a:pt x="2262089" y="236646"/>
                    <a:pt x="2239585" y="245968"/>
                    <a:pt x="2216120" y="245968"/>
                  </a:cubicBezTo>
                  <a:lnTo>
                    <a:pt x="88476" y="245968"/>
                  </a:lnTo>
                  <a:cubicBezTo>
                    <a:pt x="65011" y="245968"/>
                    <a:pt x="42507" y="236646"/>
                    <a:pt x="25914" y="220053"/>
                  </a:cubicBezTo>
                  <a:cubicBezTo>
                    <a:pt x="9322" y="203461"/>
                    <a:pt x="0" y="180957"/>
                    <a:pt x="0" y="157491"/>
                  </a:cubicBezTo>
                  <a:lnTo>
                    <a:pt x="0" y="88476"/>
                  </a:lnTo>
                  <a:cubicBezTo>
                    <a:pt x="0" y="65011"/>
                    <a:pt x="9322" y="42507"/>
                    <a:pt x="25914" y="25914"/>
                  </a:cubicBezTo>
                  <a:cubicBezTo>
                    <a:pt x="42507" y="9322"/>
                    <a:pt x="65011" y="0"/>
                    <a:pt x="88476" y="0"/>
                  </a:cubicBezTo>
                  <a:close/>
                </a:path>
              </a:pathLst>
            </a:custGeom>
            <a:solidFill>
              <a:srgbClr val="E8E803"/>
            </a:solidFill>
            <a:ln cap="rnd">
              <a:noFill/>
              <a:prstDash val="solid"/>
              <a:round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2304596" cy="28406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8" id="8"/>
          <p:cNvSpPr/>
          <p:nvPr/>
        </p:nvSpPr>
        <p:spPr>
          <a:xfrm flipH="false" flipV="false" rot="0">
            <a:off x="11690229" y="2141003"/>
            <a:ext cx="7081711" cy="7117297"/>
          </a:xfrm>
          <a:custGeom>
            <a:avLst/>
            <a:gdLst/>
            <a:ahLst/>
            <a:cxnLst/>
            <a:rect r="r" b="b" t="t" l="l"/>
            <a:pathLst>
              <a:path h="7117297" w="7081711">
                <a:moveTo>
                  <a:pt x="0" y="0"/>
                </a:moveTo>
                <a:lnTo>
                  <a:pt x="7081711" y="0"/>
                </a:lnTo>
                <a:lnTo>
                  <a:pt x="7081711" y="7117297"/>
                </a:lnTo>
                <a:lnTo>
                  <a:pt x="0" y="711729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-325010" y="7711576"/>
            <a:ext cx="5795493" cy="4114800"/>
          </a:xfrm>
          <a:custGeom>
            <a:avLst/>
            <a:gdLst/>
            <a:ahLst/>
            <a:cxnLst/>
            <a:rect r="r" b="b" t="t" l="l"/>
            <a:pathLst>
              <a:path h="4114800" w="5795493">
                <a:moveTo>
                  <a:pt x="0" y="0"/>
                </a:moveTo>
                <a:lnTo>
                  <a:pt x="5795493" y="0"/>
                </a:lnTo>
                <a:lnTo>
                  <a:pt x="5795493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0722350" y="8472196"/>
            <a:ext cx="967879" cy="937963"/>
          </a:xfrm>
          <a:custGeom>
            <a:avLst/>
            <a:gdLst/>
            <a:ahLst/>
            <a:cxnLst/>
            <a:rect r="r" b="b" t="t" l="l"/>
            <a:pathLst>
              <a:path h="937963" w="967879">
                <a:moveTo>
                  <a:pt x="0" y="0"/>
                </a:moveTo>
                <a:lnTo>
                  <a:pt x="967879" y="0"/>
                </a:lnTo>
                <a:lnTo>
                  <a:pt x="967879" y="937963"/>
                </a:lnTo>
                <a:lnTo>
                  <a:pt x="0" y="937963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14536914" y="6600637"/>
            <a:ext cx="833541" cy="1069711"/>
          </a:xfrm>
          <a:custGeom>
            <a:avLst/>
            <a:gdLst/>
            <a:ahLst/>
            <a:cxnLst/>
            <a:rect r="r" b="b" t="t" l="l"/>
            <a:pathLst>
              <a:path h="1069711" w="833541">
                <a:moveTo>
                  <a:pt x="0" y="0"/>
                </a:moveTo>
                <a:lnTo>
                  <a:pt x="833541" y="0"/>
                </a:lnTo>
                <a:lnTo>
                  <a:pt x="833541" y="1069712"/>
                </a:lnTo>
                <a:lnTo>
                  <a:pt x="0" y="106971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pic>
        <p:nvPicPr>
          <p:cNvPr name="Picture 12" id="12"/>
          <p:cNvPicPr>
            <a:picLocks noChangeAspect="true"/>
          </p:cNvPicPr>
          <p:nvPr/>
        </p:nvPicPr>
        <p:blipFill>
          <a:blip r:embed="rId11"/>
          <a:srcRect l="0" t="0" r="0" b="0"/>
          <a:stretch>
            <a:fillRect/>
          </a:stretch>
        </p:blipFill>
        <p:spPr>
          <a:xfrm flipH="false" flipV="false" rot="0">
            <a:off x="-437069" y="8049185"/>
            <a:ext cx="1465769" cy="2237815"/>
          </a:xfrm>
          <a:prstGeom prst="rect">
            <a:avLst/>
          </a:prstGeom>
        </p:spPr>
      </p:pic>
      <p:sp>
        <p:nvSpPr>
          <p:cNvPr name="TextBox 13" id="13"/>
          <p:cNvSpPr txBox="true"/>
          <p:nvPr/>
        </p:nvSpPr>
        <p:spPr>
          <a:xfrm rot="0">
            <a:off x="534986" y="8943975"/>
            <a:ext cx="8467766" cy="5048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335"/>
              </a:lnSpc>
            </a:pPr>
            <a:r>
              <a:rPr lang="en-US" b="true" sz="2550" spc="52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PHÙNG LÊ THANH QUÂN - 23110145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3110051" y="-215883"/>
            <a:ext cx="11785402" cy="9969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499"/>
              </a:lnSpc>
              <a:spcBef>
                <a:spcPct val="0"/>
              </a:spcBef>
            </a:pPr>
            <a:r>
              <a:rPr lang="en-US" b="true" sz="4999" spc="1019">
                <a:solidFill>
                  <a:srgbClr val="75078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</a:t>
            </a:r>
            <a:r>
              <a:rPr lang="en-US" b="true" sz="4999" spc="1019">
                <a:solidFill>
                  <a:srgbClr val="75078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RÍ</a:t>
            </a:r>
            <a:r>
              <a:rPr lang="en-US" b="true" sz="4999" spc="1019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</a:t>
            </a:r>
            <a:r>
              <a:rPr lang="en-US" b="true" sz="4999" spc="1019">
                <a:solidFill>
                  <a:srgbClr val="004D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TUỆ </a:t>
            </a:r>
            <a:r>
              <a:rPr lang="en-US" b="true" sz="4999" spc="1019">
                <a:solidFill>
                  <a:srgbClr val="008026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NHÂN </a:t>
            </a:r>
            <a:r>
              <a:rPr lang="en-US" b="true" sz="4999" spc="1019">
                <a:solidFill>
                  <a:srgbClr val="FFED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TẠO </a:t>
            </a:r>
            <a:r>
              <a:rPr lang="en-US" b="true" sz="4999" spc="1019">
                <a:solidFill>
                  <a:srgbClr val="FF8C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CHO </a:t>
            </a:r>
            <a:r>
              <a:rPr lang="en-US" b="true" sz="4999" spc="1019">
                <a:solidFill>
                  <a:srgbClr val="E40303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IOT</a:t>
            </a:r>
          </a:p>
        </p:txBody>
      </p:sp>
      <p:pic>
        <p:nvPicPr>
          <p:cNvPr name="Picture 15" id="15"/>
          <p:cNvPicPr>
            <a:picLocks noChangeAspect="true"/>
          </p:cNvPicPr>
          <p:nvPr/>
        </p:nvPicPr>
        <p:blipFill>
          <a:blip r:embed="rId12"/>
          <a:srcRect l="0" t="0" r="0" b="0"/>
          <a:stretch>
            <a:fillRect/>
          </a:stretch>
        </p:blipFill>
        <p:spPr>
          <a:xfrm flipH="true" flipV="false" rot="489569">
            <a:off x="13512840" y="2968273"/>
            <a:ext cx="3715231" cy="178331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3D48B8">
                <a:alpha val="100000"/>
              </a:srgbClr>
            </a:gs>
            <a:gs pos="50000">
              <a:srgbClr val="2E3794">
                <a:alpha val="100000"/>
              </a:srgbClr>
            </a:gs>
            <a:gs pos="100000">
              <a:srgbClr val="3D48B8">
                <a:alpha val="100000"/>
              </a:srgbClr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8925694" y="866775"/>
            <a:ext cx="8474563" cy="27971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1199"/>
              </a:lnSpc>
              <a:spcBef>
                <a:spcPct val="0"/>
              </a:spcBef>
            </a:pPr>
            <a:r>
              <a:rPr lang="en-US" sz="7999">
                <a:solidFill>
                  <a:srgbClr val="E8E803"/>
                </a:solidFill>
                <a:latin typeface="HK Modular"/>
                <a:ea typeface="HK Modular"/>
                <a:cs typeface="HK Modular"/>
                <a:sym typeface="HK Modular"/>
              </a:rPr>
              <a:t>LIST OF CONTENTS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8925694" y="7157224"/>
            <a:ext cx="8474563" cy="530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420"/>
              </a:lnSpc>
              <a:spcBef>
                <a:spcPct val="0"/>
              </a:spcBef>
            </a:pPr>
            <a:r>
              <a:rPr lang="en-US" sz="2600" spc="530">
                <a:solidFill>
                  <a:srgbClr val="FFFFFF"/>
                </a:solidFill>
                <a:latin typeface="Poppins Light"/>
                <a:ea typeface="Poppins Light"/>
                <a:cs typeface="Poppins Light"/>
                <a:sym typeface="Poppins Light"/>
              </a:rPr>
              <a:t>THIẾT KẾ THỰC NGHIỆM VÀ ĐÁNH GIÁ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14131209" y="4387774"/>
            <a:ext cx="3812678" cy="3392964"/>
            <a:chOff x="0" y="0"/>
            <a:chExt cx="5083571" cy="4523952"/>
          </a:xfrm>
        </p:grpSpPr>
        <p:sp>
          <p:nvSpPr>
            <p:cNvPr name="TextBox 5" id="5"/>
            <p:cNvSpPr txBox="true"/>
            <p:nvPr/>
          </p:nvSpPr>
          <p:spPr>
            <a:xfrm rot="0">
              <a:off x="3381693" y="-57150"/>
              <a:ext cx="1701878" cy="69807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r" marL="0" indent="0" lvl="0">
                <a:lnSpc>
                  <a:spcPts val="4480"/>
                </a:lnSpc>
                <a:spcBef>
                  <a:spcPct val="0"/>
                </a:spcBef>
              </a:pPr>
              <a:r>
                <a:rPr lang="en-US" b="true" sz="3200" strike="noStrike" u="none">
                  <a:solidFill>
                    <a:srgbClr val="E8E803"/>
                  </a:solidFill>
                  <a:latin typeface="HK Modular"/>
                  <a:ea typeface="HK Modular"/>
                  <a:cs typeface="HK Modular"/>
                  <a:sym typeface="HK Modular"/>
                </a:rPr>
                <a:t>03</a:t>
              </a:r>
            </a:p>
          </p:txBody>
        </p:sp>
        <p:sp>
          <p:nvSpPr>
            <p:cNvPr name="AutoShape 6" id="6"/>
            <p:cNvSpPr/>
            <p:nvPr/>
          </p:nvSpPr>
          <p:spPr>
            <a:xfrm>
              <a:off x="0" y="541725"/>
              <a:ext cx="3808870" cy="0"/>
            </a:xfrm>
            <a:prstGeom prst="line">
              <a:avLst/>
            </a:prstGeom>
            <a:ln cap="rnd" w="12700">
              <a:solidFill>
                <a:srgbClr val="F4F3E7"/>
              </a:solidFill>
              <a:prstDash val="lgDash"/>
              <a:headEnd type="none" len="sm" w="sm"/>
              <a:tailEnd type="none" len="sm" w="sm"/>
            </a:ln>
          </p:spPr>
        </p:sp>
        <p:sp>
          <p:nvSpPr>
            <p:cNvPr name="TextBox 7" id="7"/>
            <p:cNvSpPr txBox="true"/>
            <p:nvPr/>
          </p:nvSpPr>
          <p:spPr>
            <a:xfrm rot="0">
              <a:off x="3381693" y="1237217"/>
              <a:ext cx="1701878" cy="69800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r" marL="0" indent="0" lvl="0">
                <a:lnSpc>
                  <a:spcPts val="4480"/>
                </a:lnSpc>
                <a:spcBef>
                  <a:spcPct val="0"/>
                </a:spcBef>
              </a:pPr>
              <a:r>
                <a:rPr lang="en-US" b="true" sz="3200" strike="noStrike" u="none">
                  <a:solidFill>
                    <a:srgbClr val="E8E803"/>
                  </a:solidFill>
                  <a:latin typeface="HK Modular"/>
                  <a:ea typeface="HK Modular"/>
                  <a:cs typeface="HK Modular"/>
                  <a:sym typeface="HK Modular"/>
                </a:rPr>
                <a:t>05</a:t>
              </a:r>
            </a:p>
          </p:txBody>
        </p:sp>
        <p:sp>
          <p:nvSpPr>
            <p:cNvPr name="AutoShape 8" id="8"/>
            <p:cNvSpPr/>
            <p:nvPr/>
          </p:nvSpPr>
          <p:spPr>
            <a:xfrm>
              <a:off x="0" y="1836091"/>
              <a:ext cx="3808870" cy="0"/>
            </a:xfrm>
            <a:prstGeom prst="line">
              <a:avLst/>
            </a:prstGeom>
            <a:ln cap="rnd" w="12700">
              <a:solidFill>
                <a:srgbClr val="F4F3E7"/>
              </a:solidFill>
              <a:prstDash val="lgDash"/>
              <a:headEnd type="none" len="sm" w="sm"/>
              <a:tailEnd type="none" len="sm" w="sm"/>
            </a:ln>
          </p:spPr>
        </p:sp>
        <p:sp>
          <p:nvSpPr>
            <p:cNvPr name="TextBox 9" id="9"/>
            <p:cNvSpPr txBox="true"/>
            <p:nvPr/>
          </p:nvSpPr>
          <p:spPr>
            <a:xfrm rot="0">
              <a:off x="3381693" y="2531583"/>
              <a:ext cx="1701878" cy="69800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r" marL="0" indent="0" lvl="0">
                <a:lnSpc>
                  <a:spcPts val="4480"/>
                </a:lnSpc>
                <a:spcBef>
                  <a:spcPct val="0"/>
                </a:spcBef>
              </a:pPr>
              <a:r>
                <a:rPr lang="en-US" b="true" sz="3200" strike="noStrike" u="none">
                  <a:solidFill>
                    <a:srgbClr val="E8E803"/>
                  </a:solidFill>
                  <a:latin typeface="HK Modular"/>
                  <a:ea typeface="HK Modular"/>
                  <a:cs typeface="HK Modular"/>
                  <a:sym typeface="HK Modular"/>
                </a:rPr>
                <a:t>06</a:t>
              </a:r>
            </a:p>
          </p:txBody>
        </p:sp>
        <p:sp>
          <p:nvSpPr>
            <p:cNvPr name="AutoShape 10" id="10"/>
            <p:cNvSpPr/>
            <p:nvPr/>
          </p:nvSpPr>
          <p:spPr>
            <a:xfrm>
              <a:off x="0" y="3130458"/>
              <a:ext cx="3808870" cy="0"/>
            </a:xfrm>
            <a:prstGeom prst="line">
              <a:avLst/>
            </a:prstGeom>
            <a:ln cap="rnd" w="12700">
              <a:solidFill>
                <a:srgbClr val="F4F3E7"/>
              </a:solidFill>
              <a:prstDash val="lgDash"/>
              <a:headEnd type="none" len="sm" w="sm"/>
              <a:tailEnd type="none" len="sm" w="sm"/>
            </a:ln>
          </p:spPr>
        </p:sp>
        <p:sp>
          <p:nvSpPr>
            <p:cNvPr name="TextBox 11" id="11"/>
            <p:cNvSpPr txBox="true"/>
            <p:nvPr/>
          </p:nvSpPr>
          <p:spPr>
            <a:xfrm rot="0">
              <a:off x="3381693" y="3825950"/>
              <a:ext cx="1701878" cy="69800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r" marL="0" indent="0" lvl="0">
                <a:lnSpc>
                  <a:spcPts val="4480"/>
                </a:lnSpc>
                <a:spcBef>
                  <a:spcPct val="0"/>
                </a:spcBef>
              </a:pPr>
              <a:r>
                <a:rPr lang="en-US" b="true" sz="3200" strike="noStrike" u="none">
                  <a:solidFill>
                    <a:srgbClr val="E8E803"/>
                  </a:solidFill>
                  <a:latin typeface="HK Modular"/>
                  <a:ea typeface="HK Modular"/>
                  <a:cs typeface="HK Modular"/>
                  <a:sym typeface="HK Modular"/>
                </a:rPr>
                <a:t>07</a:t>
              </a:r>
            </a:p>
          </p:txBody>
        </p:sp>
      </p:grpSp>
      <p:sp>
        <p:nvSpPr>
          <p:cNvPr name="AutoShape 12" id="12"/>
          <p:cNvSpPr/>
          <p:nvPr/>
        </p:nvSpPr>
        <p:spPr>
          <a:xfrm>
            <a:off x="14131209" y="7692211"/>
            <a:ext cx="2856652" cy="0"/>
          </a:xfrm>
          <a:prstGeom prst="line">
            <a:avLst/>
          </a:prstGeom>
          <a:ln cap="rnd" w="9525">
            <a:solidFill>
              <a:srgbClr val="F4F3E7"/>
            </a:solidFill>
            <a:prstDash val="lgDash"/>
            <a:headEnd type="none" len="sm" w="sm"/>
            <a:tailEnd type="none" len="sm" w="sm"/>
          </a:ln>
        </p:spPr>
      </p:sp>
      <p:sp>
        <p:nvSpPr>
          <p:cNvPr name="Freeform 13" id="13"/>
          <p:cNvSpPr/>
          <p:nvPr/>
        </p:nvSpPr>
        <p:spPr>
          <a:xfrm flipH="false" flipV="false" rot="0">
            <a:off x="16143961" y="8403288"/>
            <a:ext cx="5306231" cy="3767424"/>
          </a:xfrm>
          <a:custGeom>
            <a:avLst/>
            <a:gdLst/>
            <a:ahLst/>
            <a:cxnLst/>
            <a:rect r="r" b="b" t="t" l="l"/>
            <a:pathLst>
              <a:path h="3767424" w="5306231">
                <a:moveTo>
                  <a:pt x="0" y="0"/>
                </a:moveTo>
                <a:lnTo>
                  <a:pt x="5306231" y="0"/>
                </a:lnTo>
                <a:lnTo>
                  <a:pt x="5306231" y="3767424"/>
                </a:lnTo>
                <a:lnTo>
                  <a:pt x="0" y="376742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14915581" y="-2691407"/>
            <a:ext cx="6056613" cy="5382815"/>
          </a:xfrm>
          <a:custGeom>
            <a:avLst/>
            <a:gdLst/>
            <a:ahLst/>
            <a:cxnLst/>
            <a:rect r="r" b="b" t="t" l="l"/>
            <a:pathLst>
              <a:path h="5382815" w="6056613">
                <a:moveTo>
                  <a:pt x="0" y="0"/>
                </a:moveTo>
                <a:lnTo>
                  <a:pt x="6056613" y="0"/>
                </a:lnTo>
                <a:lnTo>
                  <a:pt x="6056613" y="5382814"/>
                </a:lnTo>
                <a:lnTo>
                  <a:pt x="0" y="538281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19999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5" id="15"/>
          <p:cNvGrpSpPr/>
          <p:nvPr/>
        </p:nvGrpSpPr>
        <p:grpSpPr>
          <a:xfrm rot="0">
            <a:off x="0" y="0"/>
            <a:ext cx="4591400" cy="10287000"/>
            <a:chOff x="0" y="0"/>
            <a:chExt cx="1209258" cy="2709333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09258" cy="2709333"/>
            </a:xfrm>
            <a:custGeom>
              <a:avLst/>
              <a:gdLst/>
              <a:ahLst/>
              <a:cxnLst/>
              <a:rect r="r" b="b" t="t" l="l"/>
              <a:pathLst>
                <a:path h="2709333" w="1209258">
                  <a:moveTo>
                    <a:pt x="0" y="0"/>
                  </a:moveTo>
                  <a:lnTo>
                    <a:pt x="1209258" y="0"/>
                  </a:lnTo>
                  <a:lnTo>
                    <a:pt x="1209258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E8E803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09258" cy="274743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18" id="18"/>
          <p:cNvSpPr/>
          <p:nvPr/>
        </p:nvSpPr>
        <p:spPr>
          <a:xfrm flipH="false" flipV="false" rot="0">
            <a:off x="598330" y="1028700"/>
            <a:ext cx="7986141" cy="8229600"/>
          </a:xfrm>
          <a:custGeom>
            <a:avLst/>
            <a:gdLst/>
            <a:ahLst/>
            <a:cxnLst/>
            <a:rect r="r" b="b" t="t" l="l"/>
            <a:pathLst>
              <a:path h="8229600" w="7986141">
                <a:moveTo>
                  <a:pt x="0" y="0"/>
                </a:moveTo>
                <a:lnTo>
                  <a:pt x="7986141" y="0"/>
                </a:lnTo>
                <a:lnTo>
                  <a:pt x="7986141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pic>
        <p:nvPicPr>
          <p:cNvPr name="Picture 19" id="19"/>
          <p:cNvPicPr>
            <a:picLocks noChangeAspect="true"/>
          </p:cNvPicPr>
          <p:nvPr/>
        </p:nvPicPr>
        <p:blipFill>
          <a:blip r:embed="rId7"/>
          <a:srcRect l="0" t="0" r="0" b="0"/>
          <a:stretch>
            <a:fillRect/>
          </a:stretch>
        </p:blipFill>
        <p:spPr>
          <a:xfrm flipH="true" flipV="false" rot="489569">
            <a:off x="2733785" y="1799752"/>
            <a:ext cx="3715231" cy="1783311"/>
          </a:xfrm>
          <a:prstGeom prst="rect">
            <a:avLst/>
          </a:prstGeom>
        </p:spPr>
      </p:pic>
      <p:sp>
        <p:nvSpPr>
          <p:cNvPr name="TextBox 20" id="20"/>
          <p:cNvSpPr txBox="true"/>
          <p:nvPr/>
        </p:nvSpPr>
        <p:spPr>
          <a:xfrm rot="0">
            <a:off x="8925694" y="4244899"/>
            <a:ext cx="5091833" cy="530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420"/>
              </a:lnSpc>
              <a:spcBef>
                <a:spcPct val="0"/>
              </a:spcBef>
            </a:pPr>
            <a:r>
              <a:rPr lang="en-US" sz="2600" spc="530">
                <a:solidFill>
                  <a:srgbClr val="FFFFFF"/>
                </a:solidFill>
                <a:latin typeface="Poppins Light"/>
                <a:ea typeface="Poppins Light"/>
                <a:cs typeface="Poppins Light"/>
                <a:sym typeface="Poppins Light"/>
              </a:rPr>
              <a:t>TỔNG QUAN ĐỀ TÀI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8925694" y="5215674"/>
            <a:ext cx="5007789" cy="5302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420"/>
              </a:lnSpc>
              <a:spcBef>
                <a:spcPct val="0"/>
              </a:spcBef>
            </a:pPr>
            <a:r>
              <a:rPr lang="en-US" sz="2600" spc="530">
                <a:solidFill>
                  <a:srgbClr val="FFFFFF"/>
                </a:solidFill>
                <a:latin typeface="Poppins Light"/>
                <a:ea typeface="Poppins Light"/>
                <a:cs typeface="Poppins Light"/>
                <a:sym typeface="Poppins Light"/>
              </a:rPr>
              <a:t>DATASET VÀ TIỀN XỬ LÝ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8925694" y="6186449"/>
            <a:ext cx="5007789" cy="5302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420"/>
              </a:lnSpc>
              <a:spcBef>
                <a:spcPct val="0"/>
              </a:spcBef>
            </a:pPr>
            <a:r>
              <a:rPr lang="en-US" sz="2600" spc="530">
                <a:solidFill>
                  <a:srgbClr val="FFFFFF"/>
                </a:solidFill>
                <a:latin typeface="Poppins Light"/>
                <a:ea typeface="Poppins Light"/>
                <a:cs typeface="Poppins Light"/>
                <a:sym typeface="Poppins Light"/>
              </a:rPr>
              <a:t>PHƯƠNG PHÁP ĐỀ XUẤT</a:t>
            </a:r>
          </a:p>
        </p:txBody>
      </p:sp>
      <p:sp>
        <p:nvSpPr>
          <p:cNvPr name="Freeform 23" id="23"/>
          <p:cNvSpPr/>
          <p:nvPr/>
        </p:nvSpPr>
        <p:spPr>
          <a:xfrm flipH="false" flipV="false" rot="0">
            <a:off x="3831102" y="4290241"/>
            <a:ext cx="833541" cy="1069711"/>
          </a:xfrm>
          <a:custGeom>
            <a:avLst/>
            <a:gdLst/>
            <a:ahLst/>
            <a:cxnLst/>
            <a:rect r="r" b="b" t="t" l="l"/>
            <a:pathLst>
              <a:path h="1069711" w="833541">
                <a:moveTo>
                  <a:pt x="0" y="0"/>
                </a:moveTo>
                <a:lnTo>
                  <a:pt x="833542" y="0"/>
                </a:lnTo>
                <a:lnTo>
                  <a:pt x="833542" y="1069711"/>
                </a:lnTo>
                <a:lnTo>
                  <a:pt x="0" y="106971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3D48B8">
                <a:alpha val="100000"/>
              </a:srgbClr>
            </a:gs>
            <a:gs pos="50000">
              <a:srgbClr val="2E3794">
                <a:alpha val="100000"/>
              </a:srgbClr>
            </a:gs>
            <a:gs pos="100000">
              <a:srgbClr val="3D48B8">
                <a:alpha val="100000"/>
              </a:srgbClr>
            </a:gs>
          </a:gsLst>
          <a:path path="circle">
            <a:fillToRect l="50000" r="50000" t="50000" b="50000"/>
          </a:path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660367" y="8495222"/>
            <a:ext cx="5795493" cy="4114800"/>
          </a:xfrm>
          <a:custGeom>
            <a:avLst/>
            <a:gdLst/>
            <a:ahLst/>
            <a:cxnLst/>
            <a:rect r="r" b="b" t="t" l="l"/>
            <a:pathLst>
              <a:path h="4114800" w="5795493">
                <a:moveTo>
                  <a:pt x="0" y="0"/>
                </a:moveTo>
                <a:lnTo>
                  <a:pt x="5795493" y="0"/>
                </a:lnTo>
                <a:lnTo>
                  <a:pt x="5795493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-9763104">
            <a:off x="13790314" y="-991698"/>
            <a:ext cx="5795493" cy="4114800"/>
          </a:xfrm>
          <a:custGeom>
            <a:avLst/>
            <a:gdLst/>
            <a:ahLst/>
            <a:cxnLst/>
            <a:rect r="r" b="b" t="t" l="l"/>
            <a:pathLst>
              <a:path h="4114800" w="5795493">
                <a:moveTo>
                  <a:pt x="5795493" y="0"/>
                </a:moveTo>
                <a:lnTo>
                  <a:pt x="0" y="0"/>
                </a:lnTo>
                <a:lnTo>
                  <a:pt x="0" y="4114800"/>
                </a:lnTo>
                <a:lnTo>
                  <a:pt x="5795493" y="4114800"/>
                </a:lnTo>
                <a:lnTo>
                  <a:pt x="5795493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1999606" y="-3138087"/>
            <a:ext cx="6056613" cy="5382815"/>
          </a:xfrm>
          <a:custGeom>
            <a:avLst/>
            <a:gdLst/>
            <a:ahLst/>
            <a:cxnLst/>
            <a:rect r="r" b="b" t="t" l="l"/>
            <a:pathLst>
              <a:path h="5382815" w="6056613">
                <a:moveTo>
                  <a:pt x="0" y="0"/>
                </a:moveTo>
                <a:lnTo>
                  <a:pt x="6056612" y="0"/>
                </a:lnTo>
                <a:lnTo>
                  <a:pt x="6056612" y="5382815"/>
                </a:lnTo>
                <a:lnTo>
                  <a:pt x="0" y="538281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19999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294453" y="3766853"/>
            <a:ext cx="15773420" cy="5274237"/>
          </a:xfrm>
          <a:custGeom>
            <a:avLst/>
            <a:gdLst/>
            <a:ahLst/>
            <a:cxnLst/>
            <a:rect r="r" b="b" t="t" l="l"/>
            <a:pathLst>
              <a:path h="5274237" w="15773420">
                <a:moveTo>
                  <a:pt x="0" y="0"/>
                </a:moveTo>
                <a:lnTo>
                  <a:pt x="15773420" y="0"/>
                </a:lnTo>
                <a:lnTo>
                  <a:pt x="15773420" y="5274237"/>
                </a:lnTo>
                <a:lnTo>
                  <a:pt x="0" y="527423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  <a:ln w="38100" cap="sq">
            <a:solidFill>
              <a:srgbClr val="000000"/>
            </a:solidFill>
            <a:prstDash val="solid"/>
            <a:miter/>
          </a:ln>
        </p:spPr>
      </p:sp>
      <p:pic>
        <p:nvPicPr>
          <p:cNvPr name="Picture 6" id="6"/>
          <p:cNvPicPr>
            <a:picLocks noChangeAspect="true"/>
          </p:cNvPicPr>
          <p:nvPr/>
        </p:nvPicPr>
        <p:blipFill>
          <a:blip r:embed="rId7"/>
          <a:srcRect l="0" t="0" r="0" b="0"/>
          <a:stretch>
            <a:fillRect/>
          </a:stretch>
        </p:blipFill>
        <p:spPr>
          <a:xfrm flipH="false" flipV="false" rot="0">
            <a:off x="1294453" y="7383063"/>
            <a:ext cx="1082357" cy="1655660"/>
          </a:xfrm>
          <a:prstGeom prst="rect">
            <a:avLst/>
          </a:prstGeom>
        </p:spPr>
      </p:pic>
      <p:sp>
        <p:nvSpPr>
          <p:cNvPr name="Freeform 7" id="7"/>
          <p:cNvSpPr/>
          <p:nvPr/>
        </p:nvSpPr>
        <p:spPr>
          <a:xfrm flipH="true" flipV="false" rot="0">
            <a:off x="0" y="6874538"/>
            <a:ext cx="3181798" cy="2672710"/>
          </a:xfrm>
          <a:custGeom>
            <a:avLst/>
            <a:gdLst/>
            <a:ahLst/>
            <a:cxnLst/>
            <a:rect r="r" b="b" t="t" l="l"/>
            <a:pathLst>
              <a:path h="2672710" w="3181798">
                <a:moveTo>
                  <a:pt x="3181798" y="0"/>
                </a:moveTo>
                <a:lnTo>
                  <a:pt x="0" y="0"/>
                </a:lnTo>
                <a:lnTo>
                  <a:pt x="0" y="2672710"/>
                </a:lnTo>
                <a:lnTo>
                  <a:pt x="3181798" y="2672710"/>
                </a:lnTo>
                <a:lnTo>
                  <a:pt x="3181798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376771" y="361950"/>
            <a:ext cx="9516710" cy="8705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01098" indent="-550549" lvl="1">
              <a:lnSpc>
                <a:spcPts val="7140"/>
              </a:lnSpc>
              <a:spcBef>
                <a:spcPct val="0"/>
              </a:spcBef>
              <a:buAutoNum type="arabicPeriod" startAt="1"/>
            </a:pPr>
            <a:r>
              <a:rPr lang="en-US" sz="5100">
                <a:solidFill>
                  <a:srgbClr val="E8E803"/>
                </a:solidFill>
                <a:latin typeface="HK Modular"/>
                <a:ea typeface="HK Modular"/>
                <a:cs typeface="HK Modular"/>
                <a:sym typeface="HK Modular"/>
              </a:rPr>
              <a:t>TỔNG QUAN ĐỀ TÀI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0" y="1728002"/>
            <a:ext cx="18288000" cy="1514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88622" indent="-194311" lvl="1">
              <a:lnSpc>
                <a:spcPts val="3060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1800" spc="367">
                <a:solidFill>
                  <a:srgbClr val="E8E803"/>
                </a:solidFill>
                <a:latin typeface="Arial Bold"/>
                <a:ea typeface="Arial Bold"/>
                <a:cs typeface="Arial Bold"/>
                <a:sym typeface="Arial Bold"/>
              </a:rPr>
              <a:t>THÁCH THỨC (THIẾT BỊ ĐEO Y TẾ):</a:t>
            </a:r>
            <a:r>
              <a:rPr lang="en-US" sz="1800" spc="367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TÍN HIỆU PPG THU NHẬN LIÊN TỤC DÀI HẠN TẠO GÁNH NẶNG LỚN VỀ LƯU LƯỢNG, TIÊU HAO PIN KHI TRUYỀN KHÔNG DÂY.</a:t>
            </a:r>
          </a:p>
          <a:p>
            <a:pPr algn="l" marL="388622" indent="-194311" lvl="1">
              <a:lnSpc>
                <a:spcPts val="3060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1800" spc="367">
                <a:solidFill>
                  <a:srgbClr val="E8E803"/>
                </a:solidFill>
                <a:latin typeface="Arial Bold"/>
                <a:ea typeface="Arial Bold"/>
                <a:cs typeface="Arial Bold"/>
                <a:sym typeface="Arial Bold"/>
              </a:rPr>
              <a:t>GIẢI PHÁP (COMPRESSED SENSING):</a:t>
            </a:r>
            <a:r>
              <a:rPr lang="en-US" sz="1800" spc="367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TẬN DỤNG TÍNH XẤP XỈ THƯA ĐỂ NÉN BẰNG PHÉP CHIẾU NGẪU NHIÊN, CHUYỂN TOÀN BỘ ĐỘ PHỨC TẠP TÍNH TOÁN VỀ MÁY THU.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3D48B8">
                <a:alpha val="100000"/>
              </a:srgbClr>
            </a:gs>
            <a:gs pos="50000">
              <a:srgbClr val="2E3794">
                <a:alpha val="100000"/>
              </a:srgbClr>
            </a:gs>
            <a:gs pos="100000">
              <a:srgbClr val="3D48B8">
                <a:alpha val="100000"/>
              </a:srgbClr>
            </a:gs>
          </a:gsLst>
          <a:lin ang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false" rot="-9763104">
            <a:off x="15113300" y="-1028700"/>
            <a:ext cx="5795493" cy="4114800"/>
          </a:xfrm>
          <a:custGeom>
            <a:avLst/>
            <a:gdLst/>
            <a:ahLst/>
            <a:cxnLst/>
            <a:rect r="r" b="b" t="t" l="l"/>
            <a:pathLst>
              <a:path h="4114800" w="5795493">
                <a:moveTo>
                  <a:pt x="5795493" y="0"/>
                </a:moveTo>
                <a:lnTo>
                  <a:pt x="0" y="0"/>
                </a:lnTo>
                <a:lnTo>
                  <a:pt x="0" y="4114800"/>
                </a:lnTo>
                <a:lnTo>
                  <a:pt x="5795493" y="4114800"/>
                </a:lnTo>
                <a:lnTo>
                  <a:pt x="5795493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176370" y="8801703"/>
            <a:ext cx="6056613" cy="5382815"/>
          </a:xfrm>
          <a:custGeom>
            <a:avLst/>
            <a:gdLst/>
            <a:ahLst/>
            <a:cxnLst/>
            <a:rect r="r" b="b" t="t" l="l"/>
            <a:pathLst>
              <a:path h="5382815" w="6056613">
                <a:moveTo>
                  <a:pt x="0" y="0"/>
                </a:moveTo>
                <a:lnTo>
                  <a:pt x="6056613" y="0"/>
                </a:lnTo>
                <a:lnTo>
                  <a:pt x="6056613" y="5382814"/>
                </a:lnTo>
                <a:lnTo>
                  <a:pt x="0" y="538281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19999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548697" y="5553243"/>
            <a:ext cx="15972678" cy="3613818"/>
          </a:xfrm>
          <a:custGeom>
            <a:avLst/>
            <a:gdLst/>
            <a:ahLst/>
            <a:cxnLst/>
            <a:rect r="r" b="b" t="t" l="l"/>
            <a:pathLst>
              <a:path h="3613818" w="15972678">
                <a:moveTo>
                  <a:pt x="0" y="0"/>
                </a:moveTo>
                <a:lnTo>
                  <a:pt x="15972678" y="0"/>
                </a:lnTo>
                <a:lnTo>
                  <a:pt x="15972678" y="3613819"/>
                </a:lnTo>
                <a:lnTo>
                  <a:pt x="0" y="361381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  <a:ln w="28575" cap="sq">
            <a:solidFill>
              <a:srgbClr val="000000"/>
            </a:solidFill>
            <a:prstDash val="solid"/>
            <a:miter/>
          </a:ln>
        </p:spPr>
      </p:sp>
      <p:sp>
        <p:nvSpPr>
          <p:cNvPr name="TextBox 5" id="5"/>
          <p:cNvSpPr txBox="true"/>
          <p:nvPr/>
        </p:nvSpPr>
        <p:spPr>
          <a:xfrm rot="0">
            <a:off x="647379" y="158115"/>
            <a:ext cx="13252812" cy="8705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01090" indent="-550545" lvl="1">
              <a:lnSpc>
                <a:spcPts val="7139"/>
              </a:lnSpc>
              <a:spcBef>
                <a:spcPct val="0"/>
              </a:spcBef>
              <a:buAutoNum type="arabicPeriod" startAt="1"/>
            </a:pPr>
            <a:r>
              <a:rPr lang="en-US" sz="5100">
                <a:solidFill>
                  <a:srgbClr val="E8E803"/>
                </a:solidFill>
                <a:latin typeface="HK Modular"/>
                <a:ea typeface="HK Modular"/>
                <a:cs typeface="HK Modular"/>
                <a:sym typeface="HK Modular"/>
              </a:rPr>
              <a:t> Dataset và tiền xử lý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350673" y="2079760"/>
            <a:ext cx="16266795" cy="2540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31799" indent="-215899" lvl="1">
              <a:lnSpc>
                <a:spcPts val="3399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1999">
                <a:solidFill>
                  <a:srgbClr val="E8E803"/>
                </a:solidFill>
                <a:latin typeface="Arial Bold"/>
                <a:ea typeface="Arial Bold"/>
                <a:cs typeface="Arial Bold"/>
                <a:sym typeface="Arial Bold"/>
              </a:rPr>
              <a:t>Tên tập dữ liệu:</a:t>
            </a:r>
            <a:r>
              <a:rPr lang="en-US" sz="1999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PPG-DaLiA </a:t>
            </a:r>
          </a:p>
          <a:p>
            <a:pPr algn="l" marL="431799" indent="-215899" lvl="1">
              <a:lnSpc>
                <a:spcPts val="3399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1999">
                <a:solidFill>
                  <a:srgbClr val="E8E803"/>
                </a:solidFill>
                <a:latin typeface="Arial Bold"/>
                <a:ea typeface="Arial Bold"/>
                <a:cs typeface="Arial Bold"/>
                <a:sym typeface="Arial Bold"/>
              </a:rPr>
              <a:t>Tác giả:</a:t>
            </a:r>
            <a:r>
              <a:rPr lang="en-US" sz="1999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Attila Reiss, Indrajeet Indlekofer, Philip Schmidt, Kristof Van Laerhoven (Đại học Siegen, Đức - Ubiquitous Computing Group, 2019).</a:t>
            </a:r>
          </a:p>
          <a:p>
            <a:pPr algn="l" marL="431799" indent="-215899" lvl="1">
              <a:lnSpc>
                <a:spcPts val="3399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1999">
                <a:solidFill>
                  <a:srgbClr val="E8E803"/>
                </a:solidFill>
                <a:latin typeface="Arial Bold"/>
                <a:ea typeface="Arial Bold"/>
                <a:cs typeface="Arial Bold"/>
                <a:sym typeface="Arial Bold"/>
              </a:rPr>
              <a:t>Bài báo gốc:</a:t>
            </a:r>
            <a:r>
              <a:rPr lang="en-US" sz="1999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Sensors 2019, 19(14), 3079 (DOI: 10.3390/s19143079).</a:t>
            </a:r>
          </a:p>
          <a:p>
            <a:pPr algn="l" marL="431799" indent="-215899" lvl="1">
              <a:lnSpc>
                <a:spcPts val="3399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1999">
                <a:solidFill>
                  <a:srgbClr val="FFD400"/>
                </a:solidFill>
                <a:latin typeface="Arial Bold"/>
                <a:ea typeface="Arial Bold"/>
                <a:cs typeface="Arial Bold"/>
                <a:sym typeface="Arial Bold"/>
              </a:rPr>
              <a:t>Nguồn lưu trữ chính thức: </a:t>
            </a:r>
            <a:r>
              <a:rPr lang="en-US" sz="1999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UCI Machine Learning Repository (DOI: 10.24432/C53890).</a:t>
            </a:r>
          </a:p>
          <a:p>
            <a:pPr algn="l" marL="431799" indent="-215899" lvl="1">
              <a:lnSpc>
                <a:spcPts val="3399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1999">
                <a:solidFill>
                  <a:srgbClr val="FFD400"/>
                </a:solidFill>
                <a:latin typeface="Arial Bold"/>
                <a:ea typeface="Arial Bold"/>
                <a:cs typeface="Arial Bold"/>
                <a:sym typeface="Arial Bold"/>
              </a:rPr>
              <a:t>Link tải chính thức:</a:t>
            </a:r>
            <a:r>
              <a:rPr lang="en-US" sz="1999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https://archive.ics.uci.edu/dataset/495/ppg+dalia</a:t>
            </a:r>
          </a:p>
          <a:p>
            <a:pPr algn="l" marL="431799" indent="-215899" lvl="1">
              <a:lnSpc>
                <a:spcPts val="3399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1999">
                <a:solidFill>
                  <a:srgbClr val="FFD400"/>
                </a:solidFill>
                <a:latin typeface="Arial Bold"/>
                <a:ea typeface="Arial Bold"/>
                <a:cs typeface="Arial Bold"/>
                <a:sym typeface="Arial Bold"/>
              </a:rPr>
              <a:t>License:</a:t>
            </a:r>
            <a:r>
              <a:rPr lang="en-US" sz="1999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Creative Commons Attribution 4.0 International (CC BY 4.0)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28700" y="1440090"/>
            <a:ext cx="8631329" cy="431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99"/>
              </a:lnSpc>
              <a:spcBef>
                <a:spcPct val="0"/>
              </a:spcBef>
            </a:pPr>
            <a:r>
              <a:rPr lang="en-US" b="true" sz="2499">
                <a:solidFill>
                  <a:srgbClr val="FFED00"/>
                </a:solidFill>
                <a:latin typeface="Arial Bold"/>
                <a:ea typeface="Arial Bold"/>
                <a:cs typeface="Arial Bold"/>
                <a:sym typeface="Arial Bold"/>
              </a:rPr>
              <a:t>2.1 </a:t>
            </a:r>
            <a:r>
              <a:rPr lang="en-US" b="true" sz="2499">
                <a:solidFill>
                  <a:srgbClr val="FFED00"/>
                </a:solidFill>
                <a:latin typeface="Arial Bold"/>
                <a:ea typeface="Arial Bold"/>
                <a:cs typeface="Arial Bold"/>
                <a:sym typeface="Arial Bold"/>
              </a:rPr>
              <a:t>TẬP DỮ LIỆU &amp; PHÂN CHIA 5-FOLD SUBJECT-WISE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28700" y="4880916"/>
            <a:ext cx="6503075" cy="384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10209" indent="-205105" lvl="1">
              <a:lnSpc>
                <a:spcPts val="3229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1899">
                <a:solidFill>
                  <a:srgbClr val="C1FF72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Phân chia 5-Fold độc lập theo người (Subject-wise):</a:t>
            </a:r>
          </a:p>
        </p:txBody>
      </p:sp>
      <p:pic>
        <p:nvPicPr>
          <p:cNvPr name="Picture 9" id="9"/>
          <p:cNvPicPr>
            <a:picLocks noChangeAspect="true"/>
          </p:cNvPicPr>
          <p:nvPr/>
        </p:nvPicPr>
        <p:blipFill>
          <a:blip r:embed="rId7"/>
          <a:srcRect l="0" t="0" r="0" b="0"/>
          <a:stretch>
            <a:fillRect/>
          </a:stretch>
        </p:blipFill>
        <p:spPr>
          <a:xfrm flipH="false" flipV="false" rot="0">
            <a:off x="15864154" y="7914882"/>
            <a:ext cx="2146893" cy="177364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3D48B8">
                <a:alpha val="100000"/>
              </a:srgbClr>
            </a:gs>
            <a:gs pos="50000">
              <a:srgbClr val="2E3794">
                <a:alpha val="100000"/>
              </a:srgbClr>
            </a:gs>
            <a:gs pos="100000">
              <a:srgbClr val="3D48B8">
                <a:alpha val="100000"/>
              </a:srgbClr>
            </a:gs>
          </a:gsLst>
          <a:lin ang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false" rot="-9763104">
            <a:off x="15113300" y="-1028700"/>
            <a:ext cx="5795493" cy="4114800"/>
          </a:xfrm>
          <a:custGeom>
            <a:avLst/>
            <a:gdLst/>
            <a:ahLst/>
            <a:cxnLst/>
            <a:rect r="r" b="b" t="t" l="l"/>
            <a:pathLst>
              <a:path h="4114800" w="5795493">
                <a:moveTo>
                  <a:pt x="5795493" y="0"/>
                </a:moveTo>
                <a:lnTo>
                  <a:pt x="0" y="0"/>
                </a:lnTo>
                <a:lnTo>
                  <a:pt x="0" y="4114800"/>
                </a:lnTo>
                <a:lnTo>
                  <a:pt x="5795493" y="4114800"/>
                </a:lnTo>
                <a:lnTo>
                  <a:pt x="5795493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176370" y="8801703"/>
            <a:ext cx="6056613" cy="5382815"/>
          </a:xfrm>
          <a:custGeom>
            <a:avLst/>
            <a:gdLst/>
            <a:ahLst/>
            <a:cxnLst/>
            <a:rect r="r" b="b" t="t" l="l"/>
            <a:pathLst>
              <a:path h="5382815" w="6056613">
                <a:moveTo>
                  <a:pt x="0" y="0"/>
                </a:moveTo>
                <a:lnTo>
                  <a:pt x="6056613" y="0"/>
                </a:lnTo>
                <a:lnTo>
                  <a:pt x="6056613" y="5382814"/>
                </a:lnTo>
                <a:lnTo>
                  <a:pt x="0" y="538281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19999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402464" y="4260896"/>
            <a:ext cx="15483071" cy="5515844"/>
          </a:xfrm>
          <a:custGeom>
            <a:avLst/>
            <a:gdLst/>
            <a:ahLst/>
            <a:cxnLst/>
            <a:rect r="r" b="b" t="t" l="l"/>
            <a:pathLst>
              <a:path h="5515844" w="15483071">
                <a:moveTo>
                  <a:pt x="0" y="0"/>
                </a:moveTo>
                <a:lnTo>
                  <a:pt x="15483072" y="0"/>
                </a:lnTo>
                <a:lnTo>
                  <a:pt x="15483072" y="5515844"/>
                </a:lnTo>
                <a:lnTo>
                  <a:pt x="0" y="551584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880862" y="1684566"/>
            <a:ext cx="11291814" cy="2196024"/>
          </a:xfrm>
          <a:custGeom>
            <a:avLst/>
            <a:gdLst/>
            <a:ahLst/>
            <a:cxnLst/>
            <a:rect r="r" b="b" t="t" l="l"/>
            <a:pathLst>
              <a:path h="2196024" w="11291814">
                <a:moveTo>
                  <a:pt x="0" y="0"/>
                </a:moveTo>
                <a:lnTo>
                  <a:pt x="11291813" y="0"/>
                </a:lnTo>
                <a:lnTo>
                  <a:pt x="11291813" y="2196024"/>
                </a:lnTo>
                <a:lnTo>
                  <a:pt x="0" y="219602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647379" y="158115"/>
            <a:ext cx="13252812" cy="8705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01090" indent="-550545" lvl="1">
              <a:lnSpc>
                <a:spcPts val="7139"/>
              </a:lnSpc>
              <a:spcBef>
                <a:spcPct val="0"/>
              </a:spcBef>
              <a:buAutoNum type="arabicPeriod" startAt="1"/>
            </a:pPr>
            <a:r>
              <a:rPr lang="en-US" sz="5100">
                <a:solidFill>
                  <a:srgbClr val="E8E803"/>
                </a:solidFill>
                <a:latin typeface="HK Modular"/>
                <a:ea typeface="HK Modular"/>
                <a:cs typeface="HK Modular"/>
                <a:sym typeface="HK Modular"/>
              </a:rPr>
              <a:t> Dataset và tiền xử lý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28700" y="1440090"/>
            <a:ext cx="2394654" cy="431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b="true" sz="2499">
                <a:solidFill>
                  <a:srgbClr val="FFED00"/>
                </a:solidFill>
                <a:latin typeface="Arial Bold"/>
                <a:ea typeface="Arial Bold"/>
                <a:cs typeface="Arial Bold"/>
                <a:sym typeface="Arial Bold"/>
              </a:rPr>
              <a:t>2.2 </a:t>
            </a:r>
            <a:r>
              <a:rPr lang="en-US" b="true" sz="2499">
                <a:solidFill>
                  <a:srgbClr val="FFED00"/>
                </a:solidFill>
                <a:latin typeface="Arial Bold"/>
                <a:ea typeface="Arial Bold"/>
                <a:cs typeface="Arial Bold"/>
                <a:sym typeface="Arial Bold"/>
              </a:rPr>
              <a:t>TIỀN XỬ LÝ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246065" y="3655612"/>
            <a:ext cx="8630841" cy="349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800"/>
              </a:lnSpc>
              <a:spcBef>
                <a:spcPct val="0"/>
              </a:spcBef>
            </a:pPr>
            <a:r>
              <a:rPr lang="en-US" b="true" sz="2000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3 mức nén: M=51 (nén 80%), M=77 (nén 70% – cốt lõi), M=128 (nén 50%)</a:t>
            </a:r>
          </a:p>
        </p:txBody>
      </p:sp>
      <p:pic>
        <p:nvPicPr>
          <p:cNvPr name="Picture 9" id="9"/>
          <p:cNvPicPr>
            <a:picLocks noChangeAspect="true"/>
          </p:cNvPicPr>
          <p:nvPr/>
        </p:nvPicPr>
        <p:blipFill>
          <a:blip r:embed="rId8"/>
          <a:srcRect l="0" t="0" r="0" b="0"/>
          <a:stretch>
            <a:fillRect/>
          </a:stretch>
        </p:blipFill>
        <p:spPr>
          <a:xfrm flipH="true" flipV="false" rot="0">
            <a:off x="15803179" y="3177032"/>
            <a:ext cx="1082357" cy="16556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3D48B8">
                <a:alpha val="100000"/>
              </a:srgbClr>
            </a:gs>
            <a:gs pos="50000">
              <a:srgbClr val="2E3794">
                <a:alpha val="100000"/>
              </a:srgbClr>
            </a:gs>
            <a:gs pos="100000">
              <a:srgbClr val="3D48B8">
                <a:alpha val="100000"/>
              </a:srgbClr>
            </a:gs>
          </a:gsLst>
          <a:lin ang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false" rot="-9763104">
            <a:off x="15113300" y="-1028700"/>
            <a:ext cx="5795493" cy="4114800"/>
          </a:xfrm>
          <a:custGeom>
            <a:avLst/>
            <a:gdLst/>
            <a:ahLst/>
            <a:cxnLst/>
            <a:rect r="r" b="b" t="t" l="l"/>
            <a:pathLst>
              <a:path h="4114800" w="5795493">
                <a:moveTo>
                  <a:pt x="5795493" y="0"/>
                </a:moveTo>
                <a:lnTo>
                  <a:pt x="0" y="0"/>
                </a:lnTo>
                <a:lnTo>
                  <a:pt x="0" y="4114800"/>
                </a:lnTo>
                <a:lnTo>
                  <a:pt x="5795493" y="4114800"/>
                </a:lnTo>
                <a:lnTo>
                  <a:pt x="5795493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176370" y="8801703"/>
            <a:ext cx="6056613" cy="5382815"/>
          </a:xfrm>
          <a:custGeom>
            <a:avLst/>
            <a:gdLst/>
            <a:ahLst/>
            <a:cxnLst/>
            <a:rect r="r" b="b" t="t" l="l"/>
            <a:pathLst>
              <a:path h="5382815" w="6056613">
                <a:moveTo>
                  <a:pt x="0" y="0"/>
                </a:moveTo>
                <a:lnTo>
                  <a:pt x="6056613" y="0"/>
                </a:lnTo>
                <a:lnTo>
                  <a:pt x="6056613" y="5382814"/>
                </a:lnTo>
                <a:lnTo>
                  <a:pt x="0" y="538281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19999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4092063" y="1628754"/>
            <a:ext cx="9326904" cy="4451108"/>
          </a:xfrm>
          <a:custGeom>
            <a:avLst/>
            <a:gdLst/>
            <a:ahLst/>
            <a:cxnLst/>
            <a:rect r="r" b="b" t="t" l="l"/>
            <a:pathLst>
              <a:path h="4451108" w="9326904">
                <a:moveTo>
                  <a:pt x="0" y="0"/>
                </a:moveTo>
                <a:lnTo>
                  <a:pt x="9326904" y="0"/>
                </a:lnTo>
                <a:lnTo>
                  <a:pt x="9326904" y="4451108"/>
                </a:lnTo>
                <a:lnTo>
                  <a:pt x="0" y="445110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3141" t="-22898" r="-3187" b="-2428"/>
            </a:stretch>
          </a:blipFill>
          <a:ln w="38100" cap="sq">
            <a:solidFill>
              <a:srgbClr val="000000"/>
            </a:solidFill>
            <a:prstDash val="solid"/>
            <a:miter/>
          </a:ln>
        </p:spPr>
      </p:sp>
      <p:sp>
        <p:nvSpPr>
          <p:cNvPr name="Freeform 5" id="5"/>
          <p:cNvSpPr/>
          <p:nvPr/>
        </p:nvSpPr>
        <p:spPr>
          <a:xfrm flipH="false" flipV="false" rot="0">
            <a:off x="4092063" y="6782302"/>
            <a:ext cx="9326904" cy="3504698"/>
          </a:xfrm>
          <a:custGeom>
            <a:avLst/>
            <a:gdLst/>
            <a:ahLst/>
            <a:cxnLst/>
            <a:rect r="r" b="b" t="t" l="l"/>
            <a:pathLst>
              <a:path h="3504698" w="9326904">
                <a:moveTo>
                  <a:pt x="0" y="0"/>
                </a:moveTo>
                <a:lnTo>
                  <a:pt x="9326904" y="0"/>
                </a:lnTo>
                <a:lnTo>
                  <a:pt x="9326904" y="3504698"/>
                </a:lnTo>
                <a:lnTo>
                  <a:pt x="0" y="350469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  <a:ln w="38100" cap="sq">
            <a:solidFill>
              <a:srgbClr val="000000"/>
            </a:solidFill>
            <a:prstDash val="solid"/>
            <a:miter/>
          </a:ln>
        </p:spPr>
      </p:sp>
      <p:sp>
        <p:nvSpPr>
          <p:cNvPr name="TextBox 6" id="6"/>
          <p:cNvSpPr txBox="true"/>
          <p:nvPr/>
        </p:nvSpPr>
        <p:spPr>
          <a:xfrm rot="0">
            <a:off x="647379" y="158115"/>
            <a:ext cx="13252812" cy="8705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01090" indent="-550545" lvl="1">
              <a:lnSpc>
                <a:spcPts val="7139"/>
              </a:lnSpc>
              <a:spcBef>
                <a:spcPct val="0"/>
              </a:spcBef>
              <a:buAutoNum type="arabicPeriod" startAt="1"/>
            </a:pPr>
            <a:r>
              <a:rPr lang="en-US" sz="5100">
                <a:solidFill>
                  <a:srgbClr val="E8E803"/>
                </a:solidFill>
                <a:latin typeface="HK Modular"/>
                <a:ea typeface="HK Modular"/>
                <a:cs typeface="HK Modular"/>
                <a:sym typeface="HK Modular"/>
              </a:rPr>
              <a:t> PHƯƠNG PHÁP ĐỀ XUẤT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28700" y="1066144"/>
            <a:ext cx="8419029" cy="4578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  <a:spcBef>
                <a:spcPct val="0"/>
              </a:spcBef>
            </a:pPr>
            <a:r>
              <a:rPr lang="en-US" b="true" sz="2600">
                <a:solidFill>
                  <a:srgbClr val="E8E803"/>
                </a:solidFill>
                <a:latin typeface="Arial Bold"/>
                <a:ea typeface="Arial Bold"/>
                <a:cs typeface="Arial Bold"/>
                <a:sym typeface="Arial Bold"/>
              </a:rPr>
              <a:t>3.1 BỘ GIẢI MÃ CỔ ĐIỂN OMP–DCT &amp; TỐI ƯU K_MAX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338084" y="6232644"/>
            <a:ext cx="15611832" cy="349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800"/>
              </a:lnSpc>
              <a:spcBef>
                <a:spcPct val="0"/>
              </a:spcBef>
            </a:pPr>
            <a:r>
              <a:rPr lang="en-US" b="true" sz="2000">
                <a:solidFill>
                  <a:srgbClr val="FFED00"/>
                </a:solidFill>
                <a:latin typeface="Arial Bold"/>
                <a:ea typeface="Arial Bold"/>
                <a:cs typeface="Arial Bold"/>
                <a:sym typeface="Arial Bold"/>
              </a:rPr>
              <a:t>TỐI ƯU K_MAX TRÊN VALIDATION:</a:t>
            </a:r>
            <a:r>
              <a:rPr lang="en-US" sz="2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Quét tập ứng viên {8, 16, 32, 64} trên Validation; chọn: K_max = 16 (M=51), 32 (M=77), 64 (M=128).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3D48B8">
                <a:alpha val="100000"/>
              </a:srgbClr>
            </a:gs>
            <a:gs pos="50000">
              <a:srgbClr val="2E3794">
                <a:alpha val="100000"/>
              </a:srgbClr>
            </a:gs>
            <a:gs pos="100000">
              <a:srgbClr val="3D48B8">
                <a:alpha val="100000"/>
              </a:srgbClr>
            </a:gs>
          </a:gsLst>
          <a:lin ang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false" rot="-9763104">
            <a:off x="15113300" y="-1028700"/>
            <a:ext cx="5795493" cy="4114800"/>
          </a:xfrm>
          <a:custGeom>
            <a:avLst/>
            <a:gdLst/>
            <a:ahLst/>
            <a:cxnLst/>
            <a:rect r="r" b="b" t="t" l="l"/>
            <a:pathLst>
              <a:path h="4114800" w="5795493">
                <a:moveTo>
                  <a:pt x="5795493" y="0"/>
                </a:moveTo>
                <a:lnTo>
                  <a:pt x="0" y="0"/>
                </a:lnTo>
                <a:lnTo>
                  <a:pt x="0" y="4114800"/>
                </a:lnTo>
                <a:lnTo>
                  <a:pt x="5795493" y="4114800"/>
                </a:lnTo>
                <a:lnTo>
                  <a:pt x="5795493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176370" y="8801703"/>
            <a:ext cx="6056613" cy="5382815"/>
          </a:xfrm>
          <a:custGeom>
            <a:avLst/>
            <a:gdLst/>
            <a:ahLst/>
            <a:cxnLst/>
            <a:rect r="r" b="b" t="t" l="l"/>
            <a:pathLst>
              <a:path h="5382815" w="6056613">
                <a:moveTo>
                  <a:pt x="0" y="0"/>
                </a:moveTo>
                <a:lnTo>
                  <a:pt x="6056613" y="0"/>
                </a:lnTo>
                <a:lnTo>
                  <a:pt x="6056613" y="5382814"/>
                </a:lnTo>
                <a:lnTo>
                  <a:pt x="0" y="538281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19999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028700" y="2546142"/>
            <a:ext cx="16464270" cy="4392782"/>
          </a:xfrm>
          <a:custGeom>
            <a:avLst/>
            <a:gdLst/>
            <a:ahLst/>
            <a:cxnLst/>
            <a:rect r="r" b="b" t="t" l="l"/>
            <a:pathLst>
              <a:path h="4392782" w="16464270">
                <a:moveTo>
                  <a:pt x="0" y="0"/>
                </a:moveTo>
                <a:lnTo>
                  <a:pt x="16464270" y="0"/>
                </a:lnTo>
                <a:lnTo>
                  <a:pt x="16464270" y="4392782"/>
                </a:lnTo>
                <a:lnTo>
                  <a:pt x="0" y="439278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-25324"/>
            </a:stretch>
          </a:blipFill>
          <a:ln w="38100" cap="sq">
            <a:solidFill>
              <a:srgbClr val="000000"/>
            </a:solidFill>
            <a:prstDash val="solid"/>
            <a:miter/>
          </a:ln>
        </p:spPr>
      </p:sp>
      <p:sp>
        <p:nvSpPr>
          <p:cNvPr name="TextBox 5" id="5"/>
          <p:cNvSpPr txBox="true"/>
          <p:nvPr/>
        </p:nvSpPr>
        <p:spPr>
          <a:xfrm rot="0">
            <a:off x="647379" y="158115"/>
            <a:ext cx="13252812" cy="8705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01090" indent="-550545" lvl="1">
              <a:lnSpc>
                <a:spcPts val="7139"/>
              </a:lnSpc>
              <a:spcBef>
                <a:spcPct val="0"/>
              </a:spcBef>
              <a:buAutoNum type="arabicPeriod" startAt="1"/>
            </a:pPr>
            <a:r>
              <a:rPr lang="en-US" sz="5100">
                <a:solidFill>
                  <a:srgbClr val="E8E803"/>
                </a:solidFill>
                <a:latin typeface="HK Modular"/>
                <a:ea typeface="HK Modular"/>
                <a:cs typeface="HK Modular"/>
                <a:sym typeface="HK Modular"/>
              </a:rPr>
              <a:t> PHƯƠNG PHÁP ĐỀ XUẤT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28700" y="1234232"/>
            <a:ext cx="5383355" cy="4578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640"/>
              </a:lnSpc>
              <a:spcBef>
                <a:spcPct val="0"/>
              </a:spcBef>
            </a:pPr>
            <a:r>
              <a:rPr lang="en-US" b="true" sz="2600">
                <a:solidFill>
                  <a:srgbClr val="E8E803"/>
                </a:solidFill>
                <a:latin typeface="Arial Bold"/>
                <a:ea typeface="Arial Bold"/>
                <a:cs typeface="Arial Bold"/>
                <a:sym typeface="Arial Bold"/>
              </a:rPr>
              <a:t>3.2 BỘ GIẢI MÃ HỌC SÂU CNN 1D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28700" y="1920667"/>
            <a:ext cx="12281774" cy="349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Tái tạo trực tiếp từ vector đo ỹ sang tín hiệu x̂ qua mạng truyền thẳng trong 1 bước duy nhất (không cần lặp).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28700" y="7186101"/>
            <a:ext cx="11385113" cy="1263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00"/>
              </a:lnSpc>
              <a:spcBef>
                <a:spcPct val="0"/>
              </a:spcBef>
            </a:pPr>
            <a:r>
              <a:rPr lang="en-US" b="true" sz="2000">
                <a:solidFill>
                  <a:srgbClr val="FFED00"/>
                </a:solidFill>
                <a:latin typeface="Arial Bold"/>
                <a:ea typeface="Arial Bold"/>
                <a:cs typeface="Arial Bold"/>
                <a:sym typeface="Arial Bold"/>
              </a:rPr>
              <a:t>QUY TRÌNH HUẤN LUYỆN:</a:t>
            </a:r>
          </a:p>
          <a:p>
            <a:pPr algn="just">
              <a:lnSpc>
                <a:spcPts val="340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Hàm mất mát MSE; Adam optimizer (lr = 0.001); batch size = 64; Early stopping patience = 10 epoch.</a:t>
            </a:r>
          </a:p>
          <a:p>
            <a:pPr algn="just">
              <a:lnSpc>
                <a:spcPts val="340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Huấn luyện đủ 45 checkpoint (5 folds × 3 mức M × 3 seeds: 11, 22, 33). Số tham số: 40.705 (M=77).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3D48B8">
                <a:alpha val="100000"/>
              </a:srgbClr>
            </a:gs>
            <a:gs pos="50000">
              <a:srgbClr val="2E3794">
                <a:alpha val="100000"/>
              </a:srgbClr>
            </a:gs>
            <a:gs pos="100000">
              <a:srgbClr val="3D48B8">
                <a:alpha val="100000"/>
              </a:srgbClr>
            </a:gs>
          </a:gsLst>
          <a:lin ang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false" rot="-9763104">
            <a:off x="15113300" y="-1028700"/>
            <a:ext cx="5795493" cy="4114800"/>
          </a:xfrm>
          <a:custGeom>
            <a:avLst/>
            <a:gdLst/>
            <a:ahLst/>
            <a:cxnLst/>
            <a:rect r="r" b="b" t="t" l="l"/>
            <a:pathLst>
              <a:path h="4114800" w="5795493">
                <a:moveTo>
                  <a:pt x="5795493" y="0"/>
                </a:moveTo>
                <a:lnTo>
                  <a:pt x="0" y="0"/>
                </a:lnTo>
                <a:lnTo>
                  <a:pt x="0" y="4114800"/>
                </a:lnTo>
                <a:lnTo>
                  <a:pt x="5795493" y="4114800"/>
                </a:lnTo>
                <a:lnTo>
                  <a:pt x="5795493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176370" y="8801703"/>
            <a:ext cx="6056613" cy="5382815"/>
          </a:xfrm>
          <a:custGeom>
            <a:avLst/>
            <a:gdLst/>
            <a:ahLst/>
            <a:cxnLst/>
            <a:rect r="r" b="b" t="t" l="l"/>
            <a:pathLst>
              <a:path h="5382815" w="6056613">
                <a:moveTo>
                  <a:pt x="0" y="0"/>
                </a:moveTo>
                <a:lnTo>
                  <a:pt x="6056613" y="0"/>
                </a:lnTo>
                <a:lnTo>
                  <a:pt x="6056613" y="5382814"/>
                </a:lnTo>
                <a:lnTo>
                  <a:pt x="0" y="538281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19999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792853" y="2782654"/>
            <a:ext cx="14702295" cy="6259627"/>
          </a:xfrm>
          <a:custGeom>
            <a:avLst/>
            <a:gdLst/>
            <a:ahLst/>
            <a:cxnLst/>
            <a:rect r="r" b="b" t="t" l="l"/>
            <a:pathLst>
              <a:path h="6259627" w="14702295">
                <a:moveTo>
                  <a:pt x="0" y="0"/>
                </a:moveTo>
                <a:lnTo>
                  <a:pt x="14702294" y="0"/>
                </a:lnTo>
                <a:lnTo>
                  <a:pt x="14702294" y="6259627"/>
                </a:lnTo>
                <a:lnTo>
                  <a:pt x="0" y="625962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-24875" r="0" b="-7241"/>
            </a:stretch>
          </a:blipFill>
          <a:ln w="38100" cap="sq">
            <a:solidFill>
              <a:srgbClr val="000000"/>
            </a:solidFill>
            <a:prstDash val="solid"/>
            <a:miter/>
          </a:ln>
        </p:spPr>
      </p:sp>
      <p:sp>
        <p:nvSpPr>
          <p:cNvPr name="TextBox 5" id="5"/>
          <p:cNvSpPr txBox="true"/>
          <p:nvPr/>
        </p:nvSpPr>
        <p:spPr>
          <a:xfrm rot="0">
            <a:off x="647379" y="158115"/>
            <a:ext cx="13252812" cy="8705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01090" indent="-550545" lvl="1">
              <a:lnSpc>
                <a:spcPts val="7139"/>
              </a:lnSpc>
              <a:spcBef>
                <a:spcPct val="0"/>
              </a:spcBef>
              <a:buAutoNum type="arabicPeriod" startAt="1"/>
            </a:pPr>
            <a:r>
              <a:rPr lang="en-US" sz="5100">
                <a:solidFill>
                  <a:srgbClr val="E8E803"/>
                </a:solidFill>
                <a:latin typeface="HK Modular"/>
                <a:ea typeface="HK Modular"/>
                <a:cs typeface="HK Modular"/>
                <a:sym typeface="HK Modular"/>
              </a:rPr>
              <a:t> PHƯƠNG PHÁP ĐỀ XUẤT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28700" y="1342047"/>
            <a:ext cx="6720602" cy="4578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  <a:spcBef>
                <a:spcPct val="0"/>
              </a:spcBef>
            </a:pPr>
            <a:r>
              <a:rPr lang="en-US" b="true" sz="2600">
                <a:solidFill>
                  <a:srgbClr val="E8E803"/>
                </a:solidFill>
                <a:latin typeface="Arial Bold"/>
                <a:ea typeface="Arial Bold"/>
                <a:cs typeface="Arial Bold"/>
                <a:sym typeface="Arial Bold"/>
              </a:rPr>
              <a:t>3.3 MÔ HÌNH MỞ RỘNG RESLINCNN_LITE 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28700" y="2114207"/>
            <a:ext cx="13827919" cy="4578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640"/>
              </a:lnSpc>
              <a:spcBef>
                <a:spcPct val="0"/>
              </a:spcBef>
            </a:pPr>
            <a:r>
              <a:rPr lang="en-US" sz="2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Vấn đề của CNN thuần: Có xu hướng làm trơn đỉnh (smoothing) và mất biên độ ở tỷ lệ đo cao.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3D48B8">
                <a:alpha val="100000"/>
              </a:srgbClr>
            </a:gs>
            <a:gs pos="50000">
              <a:srgbClr val="2E3794">
                <a:alpha val="100000"/>
              </a:srgbClr>
            </a:gs>
            <a:gs pos="100000">
              <a:srgbClr val="3D48B8">
                <a:alpha val="100000"/>
              </a:srgbClr>
            </a:gs>
          </a:gsLst>
          <a:lin ang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false" rot="-9763104">
            <a:off x="15113300" y="-1028700"/>
            <a:ext cx="5795493" cy="4114800"/>
          </a:xfrm>
          <a:custGeom>
            <a:avLst/>
            <a:gdLst/>
            <a:ahLst/>
            <a:cxnLst/>
            <a:rect r="r" b="b" t="t" l="l"/>
            <a:pathLst>
              <a:path h="4114800" w="5795493">
                <a:moveTo>
                  <a:pt x="5795493" y="0"/>
                </a:moveTo>
                <a:lnTo>
                  <a:pt x="0" y="0"/>
                </a:lnTo>
                <a:lnTo>
                  <a:pt x="0" y="4114800"/>
                </a:lnTo>
                <a:lnTo>
                  <a:pt x="5795493" y="4114800"/>
                </a:lnTo>
                <a:lnTo>
                  <a:pt x="5795493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176370" y="8801703"/>
            <a:ext cx="6056613" cy="5382815"/>
          </a:xfrm>
          <a:custGeom>
            <a:avLst/>
            <a:gdLst/>
            <a:ahLst/>
            <a:cxnLst/>
            <a:rect r="r" b="b" t="t" l="l"/>
            <a:pathLst>
              <a:path h="5382815" w="6056613">
                <a:moveTo>
                  <a:pt x="0" y="0"/>
                </a:moveTo>
                <a:lnTo>
                  <a:pt x="6056613" y="0"/>
                </a:lnTo>
                <a:lnTo>
                  <a:pt x="6056613" y="5382814"/>
                </a:lnTo>
                <a:lnTo>
                  <a:pt x="0" y="538281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19999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931805" y="2053773"/>
            <a:ext cx="16480907" cy="7812280"/>
          </a:xfrm>
          <a:custGeom>
            <a:avLst/>
            <a:gdLst/>
            <a:ahLst/>
            <a:cxnLst/>
            <a:rect r="r" b="b" t="t" l="l"/>
            <a:pathLst>
              <a:path h="7812280" w="16480907">
                <a:moveTo>
                  <a:pt x="0" y="0"/>
                </a:moveTo>
                <a:lnTo>
                  <a:pt x="16480907" y="0"/>
                </a:lnTo>
                <a:lnTo>
                  <a:pt x="16480907" y="7812280"/>
                </a:lnTo>
                <a:lnTo>
                  <a:pt x="0" y="781228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  <a:ln w="38100" cap="sq">
            <a:solidFill>
              <a:srgbClr val="000000"/>
            </a:solidFill>
            <a:prstDash val="solid"/>
            <a:miter/>
          </a:ln>
        </p:spPr>
      </p:sp>
      <p:sp>
        <p:nvSpPr>
          <p:cNvPr name="TextBox 5" id="5"/>
          <p:cNvSpPr txBox="true"/>
          <p:nvPr/>
        </p:nvSpPr>
        <p:spPr>
          <a:xfrm rot="0">
            <a:off x="462166" y="158115"/>
            <a:ext cx="17363667" cy="8705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01090" indent="-550545" lvl="1">
              <a:lnSpc>
                <a:spcPts val="7139"/>
              </a:lnSpc>
              <a:spcBef>
                <a:spcPct val="0"/>
              </a:spcBef>
              <a:buAutoNum type="arabicPeriod" startAt="1"/>
            </a:pPr>
            <a:r>
              <a:rPr lang="en-US" sz="5100">
                <a:solidFill>
                  <a:srgbClr val="E8E803"/>
                </a:solidFill>
                <a:latin typeface="HK Modular"/>
                <a:ea typeface="HK Modular"/>
                <a:cs typeface="HK Modular"/>
                <a:sym typeface="HK Modular"/>
              </a:rPr>
              <a:t>THIẾT KẾ THỰC NGHIỆM VÀ ĐÁNH GIÁ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99464" y="1162915"/>
            <a:ext cx="9594885" cy="4578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640"/>
              </a:lnSpc>
              <a:spcBef>
                <a:spcPct val="0"/>
              </a:spcBef>
            </a:pPr>
            <a:r>
              <a:rPr lang="en-US" b="true" sz="2600">
                <a:solidFill>
                  <a:srgbClr val="FFED00"/>
                </a:solidFill>
                <a:latin typeface="Arial Bold"/>
                <a:ea typeface="Arial Bold"/>
                <a:cs typeface="Arial Bold"/>
                <a:sym typeface="Arial Bold"/>
              </a:rPr>
              <a:t>4.1 </a:t>
            </a:r>
            <a:r>
              <a:rPr lang="en-US" b="true" sz="2600">
                <a:solidFill>
                  <a:srgbClr val="FFED00"/>
                </a:solidFill>
                <a:latin typeface="Arial Bold"/>
                <a:ea typeface="Arial Bold"/>
                <a:cs typeface="Arial Bold"/>
                <a:sym typeface="Arial Bold"/>
              </a:rPr>
              <a:t>CÁC CHỈ SỐ ĐÁNH GIÁ CHẤT LƯỢNG TÁI TẠO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3D48B8">
                <a:alpha val="100000"/>
              </a:srgbClr>
            </a:gs>
            <a:gs pos="50000">
              <a:srgbClr val="2E3794">
                <a:alpha val="100000"/>
              </a:srgbClr>
            </a:gs>
            <a:gs pos="100000">
              <a:srgbClr val="3D48B8">
                <a:alpha val="100000"/>
              </a:srgbClr>
            </a:gs>
          </a:gsLst>
          <a:lin ang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false" rot="-9763104">
            <a:off x="15113300" y="-1028700"/>
            <a:ext cx="5795493" cy="4114800"/>
          </a:xfrm>
          <a:custGeom>
            <a:avLst/>
            <a:gdLst/>
            <a:ahLst/>
            <a:cxnLst/>
            <a:rect r="r" b="b" t="t" l="l"/>
            <a:pathLst>
              <a:path h="4114800" w="5795493">
                <a:moveTo>
                  <a:pt x="5795493" y="0"/>
                </a:moveTo>
                <a:lnTo>
                  <a:pt x="0" y="0"/>
                </a:lnTo>
                <a:lnTo>
                  <a:pt x="0" y="4114800"/>
                </a:lnTo>
                <a:lnTo>
                  <a:pt x="5795493" y="4114800"/>
                </a:lnTo>
                <a:lnTo>
                  <a:pt x="5795493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176370" y="8801703"/>
            <a:ext cx="6056613" cy="5382815"/>
          </a:xfrm>
          <a:custGeom>
            <a:avLst/>
            <a:gdLst/>
            <a:ahLst/>
            <a:cxnLst/>
            <a:rect r="r" b="b" t="t" l="l"/>
            <a:pathLst>
              <a:path h="5382815" w="6056613">
                <a:moveTo>
                  <a:pt x="0" y="0"/>
                </a:moveTo>
                <a:lnTo>
                  <a:pt x="6056613" y="0"/>
                </a:lnTo>
                <a:lnTo>
                  <a:pt x="6056613" y="5382814"/>
                </a:lnTo>
                <a:lnTo>
                  <a:pt x="0" y="538281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19999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775816" y="2664425"/>
            <a:ext cx="16736369" cy="4958149"/>
          </a:xfrm>
          <a:custGeom>
            <a:avLst/>
            <a:gdLst/>
            <a:ahLst/>
            <a:cxnLst/>
            <a:rect r="r" b="b" t="t" l="l"/>
            <a:pathLst>
              <a:path h="4958149" w="16736369">
                <a:moveTo>
                  <a:pt x="0" y="0"/>
                </a:moveTo>
                <a:lnTo>
                  <a:pt x="16736368" y="0"/>
                </a:lnTo>
                <a:lnTo>
                  <a:pt x="16736368" y="4958150"/>
                </a:lnTo>
                <a:lnTo>
                  <a:pt x="0" y="495815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462166" y="158115"/>
            <a:ext cx="17363667" cy="8705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01090" indent="-550545" lvl="1">
              <a:lnSpc>
                <a:spcPts val="7139"/>
              </a:lnSpc>
              <a:spcBef>
                <a:spcPct val="0"/>
              </a:spcBef>
              <a:buAutoNum type="arabicPeriod" startAt="1"/>
            </a:pPr>
            <a:r>
              <a:rPr lang="en-US" sz="5100">
                <a:solidFill>
                  <a:srgbClr val="E8E803"/>
                </a:solidFill>
                <a:latin typeface="HK Modular"/>
                <a:ea typeface="HK Modular"/>
                <a:cs typeface="HK Modular"/>
                <a:sym typeface="HK Modular"/>
              </a:rPr>
              <a:t>THIẾT KẾ THỰC NGHIỆM VÀ ĐÁNH GIÁ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99464" y="1162915"/>
            <a:ext cx="9594885" cy="4578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640"/>
              </a:lnSpc>
              <a:spcBef>
                <a:spcPct val="0"/>
              </a:spcBef>
            </a:pPr>
            <a:r>
              <a:rPr lang="en-US" b="true" sz="2600">
                <a:solidFill>
                  <a:srgbClr val="FFED00"/>
                </a:solidFill>
                <a:latin typeface="Arial Bold"/>
                <a:ea typeface="Arial Bold"/>
                <a:cs typeface="Arial Bold"/>
                <a:sym typeface="Arial Bold"/>
              </a:rPr>
              <a:t>4.1 </a:t>
            </a:r>
            <a:r>
              <a:rPr lang="en-US" b="true" sz="2600">
                <a:solidFill>
                  <a:srgbClr val="FFED00"/>
                </a:solidFill>
                <a:latin typeface="Arial Bold"/>
                <a:ea typeface="Arial Bold"/>
                <a:cs typeface="Arial Bold"/>
                <a:sym typeface="Arial Bold"/>
              </a:rPr>
              <a:t>CÁC CHỈ SỐ ĐÁNH GIÁ CHẤT LƯỢNG TÁI TẠO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3D48B8">
                <a:alpha val="100000"/>
              </a:srgbClr>
            </a:gs>
            <a:gs pos="50000">
              <a:srgbClr val="2E3794">
                <a:alpha val="100000"/>
              </a:srgbClr>
            </a:gs>
            <a:gs pos="100000">
              <a:srgbClr val="3D48B8">
                <a:alpha val="100000"/>
              </a:srgbClr>
            </a:gs>
          </a:gsLst>
          <a:lin ang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false" rot="-9763104">
            <a:off x="15113300" y="-1028700"/>
            <a:ext cx="5795493" cy="4114800"/>
          </a:xfrm>
          <a:custGeom>
            <a:avLst/>
            <a:gdLst/>
            <a:ahLst/>
            <a:cxnLst/>
            <a:rect r="r" b="b" t="t" l="l"/>
            <a:pathLst>
              <a:path h="4114800" w="5795493">
                <a:moveTo>
                  <a:pt x="5795493" y="0"/>
                </a:moveTo>
                <a:lnTo>
                  <a:pt x="0" y="0"/>
                </a:lnTo>
                <a:lnTo>
                  <a:pt x="0" y="4114800"/>
                </a:lnTo>
                <a:lnTo>
                  <a:pt x="5795493" y="4114800"/>
                </a:lnTo>
                <a:lnTo>
                  <a:pt x="5795493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176370" y="8801703"/>
            <a:ext cx="6056613" cy="5382815"/>
          </a:xfrm>
          <a:custGeom>
            <a:avLst/>
            <a:gdLst/>
            <a:ahLst/>
            <a:cxnLst/>
            <a:rect r="r" b="b" t="t" l="l"/>
            <a:pathLst>
              <a:path h="5382815" w="6056613">
                <a:moveTo>
                  <a:pt x="0" y="0"/>
                </a:moveTo>
                <a:lnTo>
                  <a:pt x="6056613" y="0"/>
                </a:lnTo>
                <a:lnTo>
                  <a:pt x="6056613" y="5382814"/>
                </a:lnTo>
                <a:lnTo>
                  <a:pt x="0" y="538281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19999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462166" y="3500419"/>
            <a:ext cx="17336913" cy="5157732"/>
          </a:xfrm>
          <a:custGeom>
            <a:avLst/>
            <a:gdLst/>
            <a:ahLst/>
            <a:cxnLst/>
            <a:rect r="r" b="b" t="t" l="l"/>
            <a:pathLst>
              <a:path h="5157732" w="17336913">
                <a:moveTo>
                  <a:pt x="0" y="0"/>
                </a:moveTo>
                <a:lnTo>
                  <a:pt x="17336913" y="0"/>
                </a:lnTo>
                <a:lnTo>
                  <a:pt x="17336913" y="5157732"/>
                </a:lnTo>
                <a:lnTo>
                  <a:pt x="0" y="515773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462166" y="158115"/>
            <a:ext cx="17363667" cy="8705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01090" indent="-550545" lvl="1">
              <a:lnSpc>
                <a:spcPts val="7139"/>
              </a:lnSpc>
              <a:spcBef>
                <a:spcPct val="0"/>
              </a:spcBef>
              <a:buAutoNum type="arabicPeriod" startAt="1"/>
            </a:pPr>
            <a:r>
              <a:rPr lang="en-US" sz="5100">
                <a:solidFill>
                  <a:srgbClr val="E8E803"/>
                </a:solidFill>
                <a:latin typeface="HK Modular"/>
                <a:ea typeface="HK Modular"/>
                <a:cs typeface="HK Modular"/>
                <a:sym typeface="HK Modular"/>
              </a:rPr>
              <a:t>THIẾT KẾ THỰC NGHIỆM VÀ ĐÁNH GIÁ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99464" y="1379485"/>
            <a:ext cx="9594885" cy="4578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640"/>
              </a:lnSpc>
              <a:spcBef>
                <a:spcPct val="0"/>
              </a:spcBef>
            </a:pPr>
            <a:r>
              <a:rPr lang="en-US" b="true" sz="2600">
                <a:solidFill>
                  <a:srgbClr val="FFED00"/>
                </a:solidFill>
                <a:latin typeface="Arial Bold"/>
                <a:ea typeface="Arial Bold"/>
                <a:cs typeface="Arial Bold"/>
                <a:sym typeface="Arial Bold"/>
              </a:rPr>
              <a:t>4.2 ĐƯỜNG</a:t>
            </a:r>
            <a:r>
              <a:rPr lang="en-US" b="true" sz="2600">
                <a:solidFill>
                  <a:srgbClr val="FFED00"/>
                </a:solidFill>
                <a:latin typeface="Arial Bold"/>
                <a:ea typeface="Arial Bold"/>
                <a:cs typeface="Arial Bold"/>
                <a:sym typeface="Arial Bold"/>
              </a:rPr>
              <a:t> CONG ĐÁNH ĐỔI NÉN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3D48B8">
                <a:alpha val="100000"/>
              </a:srgbClr>
            </a:gs>
            <a:gs pos="50000">
              <a:srgbClr val="2E3794">
                <a:alpha val="100000"/>
              </a:srgbClr>
            </a:gs>
            <a:gs pos="100000">
              <a:srgbClr val="3D48B8">
                <a:alpha val="100000"/>
              </a:srgbClr>
            </a:gs>
          </a:gsLst>
          <a:lin ang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false" rot="-9763104">
            <a:off x="15113300" y="-1028700"/>
            <a:ext cx="5795493" cy="4114800"/>
          </a:xfrm>
          <a:custGeom>
            <a:avLst/>
            <a:gdLst/>
            <a:ahLst/>
            <a:cxnLst/>
            <a:rect r="r" b="b" t="t" l="l"/>
            <a:pathLst>
              <a:path h="4114800" w="5795493">
                <a:moveTo>
                  <a:pt x="5795493" y="0"/>
                </a:moveTo>
                <a:lnTo>
                  <a:pt x="0" y="0"/>
                </a:lnTo>
                <a:lnTo>
                  <a:pt x="0" y="4114800"/>
                </a:lnTo>
                <a:lnTo>
                  <a:pt x="5795493" y="4114800"/>
                </a:lnTo>
                <a:lnTo>
                  <a:pt x="5795493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176370" y="8801703"/>
            <a:ext cx="6056613" cy="5382815"/>
          </a:xfrm>
          <a:custGeom>
            <a:avLst/>
            <a:gdLst/>
            <a:ahLst/>
            <a:cxnLst/>
            <a:rect r="r" b="b" t="t" l="l"/>
            <a:pathLst>
              <a:path h="5382815" w="6056613">
                <a:moveTo>
                  <a:pt x="0" y="0"/>
                </a:moveTo>
                <a:lnTo>
                  <a:pt x="6056613" y="0"/>
                </a:lnTo>
                <a:lnTo>
                  <a:pt x="6056613" y="5382814"/>
                </a:lnTo>
                <a:lnTo>
                  <a:pt x="0" y="538281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19999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2238268" y="1777753"/>
            <a:ext cx="13583993" cy="3696254"/>
          </a:xfrm>
          <a:custGeom>
            <a:avLst/>
            <a:gdLst/>
            <a:ahLst/>
            <a:cxnLst/>
            <a:rect r="r" b="b" t="t" l="l"/>
            <a:pathLst>
              <a:path h="3696254" w="13583993">
                <a:moveTo>
                  <a:pt x="0" y="0"/>
                </a:moveTo>
                <a:lnTo>
                  <a:pt x="13583993" y="0"/>
                </a:lnTo>
                <a:lnTo>
                  <a:pt x="13583993" y="3696254"/>
                </a:lnTo>
                <a:lnTo>
                  <a:pt x="0" y="369625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2238268" y="5788418"/>
            <a:ext cx="13583993" cy="4234644"/>
          </a:xfrm>
          <a:custGeom>
            <a:avLst/>
            <a:gdLst/>
            <a:ahLst/>
            <a:cxnLst/>
            <a:rect r="r" b="b" t="t" l="l"/>
            <a:pathLst>
              <a:path h="4234644" w="13583993">
                <a:moveTo>
                  <a:pt x="0" y="0"/>
                </a:moveTo>
                <a:lnTo>
                  <a:pt x="13583993" y="0"/>
                </a:lnTo>
                <a:lnTo>
                  <a:pt x="13583993" y="4234644"/>
                </a:lnTo>
                <a:lnTo>
                  <a:pt x="0" y="423464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462166" y="158115"/>
            <a:ext cx="17363667" cy="8705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01090" indent="-550545" lvl="1">
              <a:lnSpc>
                <a:spcPts val="7139"/>
              </a:lnSpc>
              <a:spcBef>
                <a:spcPct val="0"/>
              </a:spcBef>
              <a:buAutoNum type="arabicPeriod" startAt="1"/>
            </a:pPr>
            <a:r>
              <a:rPr lang="en-US" sz="5100">
                <a:solidFill>
                  <a:srgbClr val="E8E803"/>
                </a:solidFill>
                <a:latin typeface="HK Modular"/>
                <a:ea typeface="HK Modular"/>
                <a:cs typeface="HK Modular"/>
                <a:sym typeface="HK Modular"/>
              </a:rPr>
              <a:t>THIẾT KẾ THỰC NGHIỆM VÀ ĐÁNH GIÁ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04255" y="1140971"/>
            <a:ext cx="5723334" cy="4578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640"/>
              </a:lnSpc>
              <a:spcBef>
                <a:spcPct val="0"/>
              </a:spcBef>
            </a:pPr>
            <a:r>
              <a:rPr lang="en-US" b="true" sz="2600">
                <a:solidFill>
                  <a:srgbClr val="FFED00"/>
                </a:solidFill>
                <a:latin typeface="Arial Bold"/>
                <a:ea typeface="Arial Bold"/>
                <a:cs typeface="Arial Bold"/>
                <a:sym typeface="Arial Bold"/>
              </a:rPr>
              <a:t>4.3 ĐO KIỂM PHẦN CỨNG ESP32-S3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3D48B8">
                <a:alpha val="100000"/>
              </a:srgbClr>
            </a:gs>
            <a:gs pos="50000">
              <a:srgbClr val="2E3794">
                <a:alpha val="100000"/>
              </a:srgbClr>
            </a:gs>
            <a:gs pos="100000">
              <a:srgbClr val="3D48B8">
                <a:alpha val="100000"/>
              </a:srgbClr>
            </a:gs>
          </a:gsLst>
          <a:path path="circle">
            <a:fillToRect l="50000" r="50000" t="50000" b="50000"/>
          </a:path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1801758" y="-2691407"/>
            <a:ext cx="6056613" cy="5382815"/>
          </a:xfrm>
          <a:custGeom>
            <a:avLst/>
            <a:gdLst/>
            <a:ahLst/>
            <a:cxnLst/>
            <a:rect r="r" b="b" t="t" l="l"/>
            <a:pathLst>
              <a:path h="5382815" w="6056613">
                <a:moveTo>
                  <a:pt x="0" y="0"/>
                </a:moveTo>
                <a:lnTo>
                  <a:pt x="6056613" y="0"/>
                </a:lnTo>
                <a:lnTo>
                  <a:pt x="6056613" y="5382814"/>
                </a:lnTo>
                <a:lnTo>
                  <a:pt x="0" y="538281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9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9144000" y="7595593"/>
            <a:ext cx="6056613" cy="5382815"/>
          </a:xfrm>
          <a:custGeom>
            <a:avLst/>
            <a:gdLst/>
            <a:ahLst/>
            <a:cxnLst/>
            <a:rect r="r" b="b" t="t" l="l"/>
            <a:pathLst>
              <a:path h="5382815" w="6056613">
                <a:moveTo>
                  <a:pt x="0" y="0"/>
                </a:moveTo>
                <a:lnTo>
                  <a:pt x="6056613" y="0"/>
                </a:lnTo>
                <a:lnTo>
                  <a:pt x="6056613" y="5382814"/>
                </a:lnTo>
                <a:lnTo>
                  <a:pt x="0" y="538281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9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028700" y="8335366"/>
            <a:ext cx="952371" cy="922934"/>
          </a:xfrm>
          <a:custGeom>
            <a:avLst/>
            <a:gdLst/>
            <a:ahLst/>
            <a:cxnLst/>
            <a:rect r="r" b="b" t="t" l="l"/>
            <a:pathLst>
              <a:path h="922934" w="952371">
                <a:moveTo>
                  <a:pt x="0" y="0"/>
                </a:moveTo>
                <a:lnTo>
                  <a:pt x="952371" y="0"/>
                </a:lnTo>
                <a:lnTo>
                  <a:pt x="952371" y="922934"/>
                </a:lnTo>
                <a:lnTo>
                  <a:pt x="0" y="92293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0831127" y="3663948"/>
            <a:ext cx="5178493" cy="27971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1199"/>
              </a:lnSpc>
              <a:spcBef>
                <a:spcPct val="0"/>
              </a:spcBef>
            </a:pPr>
            <a:r>
              <a:rPr lang="en-US" sz="7999">
                <a:solidFill>
                  <a:srgbClr val="E8E803"/>
                </a:solidFill>
                <a:latin typeface="HK Modular"/>
                <a:ea typeface="HK Modular"/>
                <a:cs typeface="HK Modular"/>
                <a:sym typeface="HK Modular"/>
              </a:rPr>
              <a:t>thank you</a:t>
            </a:r>
          </a:p>
        </p:txBody>
      </p:sp>
      <p:sp>
        <p:nvSpPr>
          <p:cNvPr name="Freeform 6" id="6"/>
          <p:cNvSpPr/>
          <p:nvPr/>
        </p:nvSpPr>
        <p:spPr>
          <a:xfrm flipH="false" flipV="false" rot="0">
            <a:off x="13950933" y="5490527"/>
            <a:ext cx="694474" cy="673009"/>
          </a:xfrm>
          <a:custGeom>
            <a:avLst/>
            <a:gdLst/>
            <a:ahLst/>
            <a:cxnLst/>
            <a:rect r="r" b="b" t="t" l="l"/>
            <a:pathLst>
              <a:path h="673009" w="694474">
                <a:moveTo>
                  <a:pt x="0" y="0"/>
                </a:moveTo>
                <a:lnTo>
                  <a:pt x="694474" y="0"/>
                </a:lnTo>
                <a:lnTo>
                  <a:pt x="694474" y="673009"/>
                </a:lnTo>
                <a:lnTo>
                  <a:pt x="0" y="67300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2949472" y="876300"/>
            <a:ext cx="6354017" cy="8229600"/>
          </a:xfrm>
          <a:custGeom>
            <a:avLst/>
            <a:gdLst/>
            <a:ahLst/>
            <a:cxnLst/>
            <a:rect r="r" b="b" t="t" l="l"/>
            <a:pathLst>
              <a:path h="8229600" w="6354017">
                <a:moveTo>
                  <a:pt x="0" y="0"/>
                </a:moveTo>
                <a:lnTo>
                  <a:pt x="6354016" y="0"/>
                </a:lnTo>
                <a:lnTo>
                  <a:pt x="6354016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DAHXWkQ_hvA</dc:identifier>
  <dcterms:modified xsi:type="dcterms:W3CDTF">2011-08-01T06:04:30Z</dcterms:modified>
  <cp:revision>1</cp:revision>
  <dc:title>Blue Yellow Bold Modern Technology Keynote Presentation</dc:title>
</cp:coreProperties>
</file>